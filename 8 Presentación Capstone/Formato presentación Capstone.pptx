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930" r:id="rId1"/>
  </p:sldMasterIdLst>
  <p:notesMasterIdLst>
    <p:notesMasterId r:id="rId13"/>
  </p:notesMasterIdLst>
  <p:sldIdLst>
    <p:sldId id="268" r:id="rId2"/>
    <p:sldId id="269" r:id="rId3"/>
    <p:sldId id="270" r:id="rId4"/>
    <p:sldId id="271" r:id="rId5"/>
    <p:sldId id="272" r:id="rId6"/>
    <p:sldId id="273" r:id="rId7"/>
    <p:sldId id="274" r:id="rId8"/>
    <p:sldId id="275" r:id="rId9"/>
    <p:sldId id="277" r:id="rId10"/>
    <p:sldId id="279" r:id="rId11"/>
    <p:sldId id="278" r:id="rId12"/>
  </p:sldIdLst>
  <p:sldSz cx="14630400" cy="8229600"/>
  <p:notesSz cx="8229600" cy="14630400"/>
  <p:embeddedFontLst>
    <p:embeddedFont>
      <p:font typeface="IBM Plex Sans Medium" panose="020B0603050203000203" pitchFamily="34" charset="0"/>
      <p:regular r:id="rId14"/>
      <p:italic r:id="rId15"/>
    </p:embeddedFont>
    <p:embeddedFont>
      <p:font typeface="Roboto" panose="02000000000000000000" pitchFamily="2" charset="0"/>
      <p:regular r:id="rId16"/>
      <p:bold r:id="rId17"/>
      <p:italic r:id="rId18"/>
      <p:boldItalic r:id="rId19"/>
    </p:embeddedFont>
    <p:embeddedFont>
      <p:font typeface="Trade Gothic Next Cond" panose="020B0506040303020004" pitchFamily="34" charset="0"/>
      <p:regular r:id="rId20"/>
      <p:bold r:id="rId21"/>
      <p:italic r:id="rId22"/>
      <p:boldItalic r:id="rId23"/>
    </p:embeddedFont>
    <p:embeddedFont>
      <p:font typeface="Trade Gothic Next Light" panose="020B0403040303020004" pitchFamily="34" charset="0"/>
      <p:regular r:id="rId24"/>
      <p:italic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797"/>
    <a:srgbClr val="CC00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FDE25F-1AA8-2AEE-EFA5-52422E969408}" v="238" dt="2026-04-08T16:01:29.964"/>
    <p1510:client id="{97DE1F20-8DBF-1EC8-4F60-288B44FB6EA9}" v="148" dt="2026-04-08T15:44:03.1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60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viewProps" Target="viewProps.xml"/><Relationship Id="rId30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DE353D-9636-4D4F-85B9-CE0BF84C35E9}" type="datetimeFigureOut">
              <a:t>09/04/2026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C1502F-3F04-408D-9DFF-BE4EB2134546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105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0F8CF-692C-4963-8B5E-D1C0928CF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5534" y="1216781"/>
            <a:ext cx="9257266" cy="3912762"/>
          </a:xfrm>
        </p:spPr>
        <p:txBody>
          <a:bodyPr anchor="b"/>
          <a:lstStyle>
            <a:lvl1pPr algn="l">
              <a:defRPr sz="4978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419655-1613-4CC0-BBE9-BD2CB2C3C7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15534" y="5818157"/>
            <a:ext cx="9257266" cy="1303019"/>
          </a:xfrm>
        </p:spPr>
        <p:txBody>
          <a:bodyPr>
            <a:normAutofit/>
          </a:bodyPr>
          <a:lstStyle>
            <a:lvl1pPr marL="0" indent="0" algn="l">
              <a:buNone/>
              <a:defRPr sz="3200"/>
            </a:lvl1pPr>
            <a:lvl2pPr marL="812810" indent="0" algn="ctr">
              <a:buNone/>
              <a:defRPr sz="3200"/>
            </a:lvl2pPr>
            <a:lvl3pPr marL="1625620" indent="0" algn="ctr">
              <a:buNone/>
              <a:defRPr sz="3200"/>
            </a:lvl3pPr>
            <a:lvl4pPr marL="2438430" indent="0" algn="ctr">
              <a:buNone/>
              <a:defRPr sz="2844"/>
            </a:lvl4pPr>
            <a:lvl5pPr marL="3251241" indent="0" algn="ctr">
              <a:buNone/>
              <a:defRPr sz="2844"/>
            </a:lvl5pPr>
            <a:lvl6pPr marL="4064051" indent="0" algn="ctr">
              <a:buNone/>
              <a:defRPr sz="2844"/>
            </a:lvl6pPr>
            <a:lvl7pPr marL="4876861" indent="0" algn="ctr">
              <a:buNone/>
              <a:defRPr sz="2844"/>
            </a:lvl7pPr>
            <a:lvl8pPr marL="5689671" indent="0" algn="ctr">
              <a:buNone/>
              <a:defRPr sz="2844"/>
            </a:lvl8pPr>
            <a:lvl9pPr marL="6502481" indent="0" algn="ctr">
              <a:buNone/>
              <a:defRPr sz="2844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67FFF-6BC4-4DF0-BC55-B2C3BFD8E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70120-CDFC-48DE-A6EA-6DEEDD0E436A}" type="datetimeFigureOut">
              <a:rPr lang="en-US" dirty="0"/>
              <a:t>4/9/2026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89830-A1B7-484B-832C-F64A558BD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8F727-72C8-47A9-8E54-AD8459028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ED5540-64E5-4258-ABA4-753F07B71B38}"/>
              </a:ext>
            </a:extLst>
          </p:cNvPr>
          <p:cNvCxnSpPr>
            <a:cxnSpLocks/>
          </p:cNvCxnSpPr>
          <p:nvPr/>
        </p:nvCxnSpPr>
        <p:spPr>
          <a:xfrm>
            <a:off x="1828801" y="5485807"/>
            <a:ext cx="1165386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4207982"/>
      </p:ext>
    </p:extLst>
  </p:cSld>
  <p:clrMapOvr>
    <a:masterClrMapping/>
  </p:clrMapOvr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EF94C-BCB1-4F4C-AF70-DD2A5C4E3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5479" y="1254535"/>
            <a:ext cx="11086121" cy="1029071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09B75-A057-44B5-872F-DF01BDC8E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5479" y="2743200"/>
            <a:ext cx="11086121" cy="457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6260C-3219-4812-88F2-3162D37F2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9FAAF-C467-4C93-8ECD-39AF5A14D498}" type="datetimeFigureOut">
              <a:rPr lang="en-US" dirty="0"/>
              <a:t>4/9/2026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62B73-9C01-4BE3-A199-782BE6EBA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61492-EB56-4454-9D2A-8BB94AACB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958978"/>
      </p:ext>
    </p:extLst>
  </p:cSld>
  <p:clrMapOvr>
    <a:masterClrMapping/>
  </p:clrMapOvr>
  <p:hf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980A128-A52A-402C-865B-1BF08D7F0458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00447-3778-4AB7-ACB3-7C2313FE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6094" y="1545065"/>
            <a:ext cx="9941956" cy="3735677"/>
          </a:xfrm>
        </p:spPr>
        <p:txBody>
          <a:bodyPr anchor="t"/>
          <a:lstStyle>
            <a:lvl1pPr>
              <a:defRPr sz="7822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910C9-BA3C-4D31-9C62-2C2408591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06093" y="5543649"/>
            <a:ext cx="9266707" cy="1771552"/>
          </a:xfrm>
        </p:spPr>
        <p:txBody>
          <a:bodyPr anchor="b">
            <a:normAutofit/>
          </a:bodyPr>
          <a:lstStyle>
            <a:lvl1pPr marL="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81281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42E8A-6B69-406B-A3DF-0A1B76832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7E480-B2BA-4553-A144-61E7F75833ED}" type="datetimeFigureOut">
              <a:rPr lang="en-US" dirty="0"/>
              <a:t>4/9/2026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665CF-4461-4BB8-8F3A-ED1CB1084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98B27-5EF3-49F4-B3CE-F3CF419AE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7414362"/>
      </p:ext>
    </p:extLst>
  </p:cSld>
  <p:clrMapOvr>
    <a:masterClrMapping/>
  </p:clrMapOvr>
  <p:hf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3F3BA-5AD5-4F15-97B2-E4652D1D4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5479" y="1216093"/>
            <a:ext cx="11086121" cy="106751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997B8-1FD3-40E6-A486-256EB41DB7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15479" y="2562679"/>
            <a:ext cx="5394960" cy="475252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3F4D8-AA9A-4AF7-86EA-E4D797B98C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562679"/>
            <a:ext cx="5394960" cy="475252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8823E-BC08-4810-9BFF-35D2EA2AE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E682A-6B53-4B08-AE4D-4C5E659103CC}" type="datetimeFigureOut">
              <a:rPr lang="en-US" dirty="0"/>
              <a:t>4/9/2026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D2BFB-BB2C-4C4A-A6E1-DD223C2BE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369B2-12F8-4583-8A7F-523C9A3EF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4058846"/>
      </p:ext>
    </p:extLst>
  </p:cSld>
  <p:clrMapOvr>
    <a:masterClrMapping/>
  </p:clrMapOvr>
  <p:hf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C717F-84B9-44BA-8DD6-680394AB1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5479" y="1294980"/>
            <a:ext cx="11086121" cy="98869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217D6-7448-4625-964F-5D82F65F1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15481" y="2415861"/>
            <a:ext cx="5394959" cy="84507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3200" b="0" cap="all" spc="533" baseline="0">
                <a:solidFill>
                  <a:schemeClr val="tx1"/>
                </a:solidFill>
                <a:latin typeface="+mj-lt"/>
              </a:defRPr>
            </a:lvl1pPr>
            <a:lvl2pPr marL="812810" indent="0">
              <a:buNone/>
              <a:defRPr sz="3200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3A534C-0B54-4327-99C0-4F0019FD21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715480" y="3657600"/>
            <a:ext cx="5394960" cy="3657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9D4A63-0795-4B74-8C11-5FE7944118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415858"/>
            <a:ext cx="5394960" cy="84508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3200" b="0" cap="all" spc="533" baseline="0">
                <a:solidFill>
                  <a:schemeClr val="tx1"/>
                </a:solidFill>
                <a:latin typeface="+mj-lt"/>
              </a:defRPr>
            </a:lvl1pPr>
            <a:lvl2pPr marL="812810" indent="0">
              <a:buNone/>
              <a:defRPr sz="3200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3D16F3-F747-441B-9854-27225954DE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657600"/>
            <a:ext cx="5394960" cy="3657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8168E2-6B97-486E-B0E4-4E7F5CDBB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9F0F6-BEBB-4894-ABB2-75C5CBE0DDB9}" type="datetimeFigureOut">
              <a:rPr lang="en-US" dirty="0"/>
              <a:t>4/9/2026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5D3E2B-2F4E-4347-A8E9-27EB7D035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1FC4F5-6876-414E-9E30-84706A3F5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70D2F04-5474-46B9-B838-858CDF4AB2D2}"/>
              </a:ext>
            </a:extLst>
          </p:cNvPr>
          <p:cNvCxnSpPr>
            <a:cxnSpLocks/>
          </p:cNvCxnSpPr>
          <p:nvPr/>
        </p:nvCxnSpPr>
        <p:spPr>
          <a:xfrm>
            <a:off x="7524873" y="3451994"/>
            <a:ext cx="1165386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ADEE893-BE45-47F3-BCF0-02424B3503CC}"/>
              </a:ext>
            </a:extLst>
          </p:cNvPr>
          <p:cNvSpPr/>
          <p:nvPr/>
        </p:nvSpPr>
        <p:spPr>
          <a:xfrm>
            <a:off x="-1406205" y="5510888"/>
            <a:ext cx="969914" cy="4676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FB5178A-4501-4B56-8BF1-D083D7B021CE}"/>
              </a:ext>
            </a:extLst>
          </p:cNvPr>
          <p:cNvCxnSpPr>
            <a:cxnSpLocks/>
          </p:cNvCxnSpPr>
          <p:nvPr/>
        </p:nvCxnSpPr>
        <p:spPr>
          <a:xfrm>
            <a:off x="1828801" y="3451994"/>
            <a:ext cx="1165386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2693429"/>
      </p:ext>
    </p:extLst>
  </p:cSld>
  <p:clrMapOvr>
    <a:masterClrMapping/>
  </p:clrMapOvr>
  <p:hf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52109C6-041C-42BA-B507-8EA298046EDD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7BF877-20DD-40F4-AEA8-E1B6D5350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7DC874-15B5-4338-B7D1-8E393AB4C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E9E5F-17D9-4A30-9DA3-64E46A6DF111}" type="datetimeFigureOut">
              <a:rPr lang="en-US" dirty="0"/>
              <a:t>4/9/2026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66BAE3-24C5-483F-9141-D860A265E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9AEEB4-66F8-4008-B616-804FB9D91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8916534"/>
      </p:ext>
    </p:extLst>
  </p:cSld>
  <p:clrMapOvr>
    <a:masterClrMapping/>
  </p:clrMapOvr>
  <p:hf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46C975-8FFB-4A4B-9213-774EE3901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AC5F0-3BC3-4718-BCCA-24B5655EC864}" type="datetimeFigureOut">
              <a:rPr lang="en-US" dirty="0"/>
              <a:t>4/9/2026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BA744F-475D-4105-8E4A-02581554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FA64C-7966-4D6F-88D7-4B89F2A1D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0370123"/>
      </p:ext>
    </p:extLst>
  </p:cSld>
  <p:clrMapOvr>
    <a:masterClrMapping/>
  </p:clrMapOvr>
  <p:hf sldNum="0"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4ED5F-AB94-4DCF-8971-B8B2B55AF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2488" y="1870733"/>
            <a:ext cx="3935627" cy="2237035"/>
          </a:xfrm>
        </p:spPr>
        <p:txBody>
          <a:bodyPr anchor="b"/>
          <a:lstStyle>
            <a:lvl1pPr algn="r">
              <a:defRPr sz="4978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EE4CB-68CF-4BF3-A891-8277AFD13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1" y="914400"/>
            <a:ext cx="6400799" cy="6400800"/>
          </a:xfrm>
        </p:spPr>
        <p:txBody>
          <a:bodyPr anchor="ctr">
            <a:normAutofit/>
          </a:bodyPr>
          <a:lstStyle>
            <a:lvl1pPr>
              <a:defRPr sz="4978">
                <a:solidFill>
                  <a:schemeClr val="tx1"/>
                </a:solidFill>
              </a:defRPr>
            </a:lvl1pPr>
            <a:lvl2pPr>
              <a:defRPr sz="4267">
                <a:solidFill>
                  <a:schemeClr val="tx1"/>
                </a:solidFill>
              </a:defRPr>
            </a:lvl2pPr>
            <a:lvl3pPr>
              <a:defRPr sz="3556">
                <a:solidFill>
                  <a:schemeClr val="tx1"/>
                </a:solidFill>
              </a:defRPr>
            </a:lvl3pPr>
            <a:lvl4pPr>
              <a:defRPr sz="3200">
                <a:solidFill>
                  <a:schemeClr val="tx1"/>
                </a:solidFill>
              </a:defRPr>
            </a:lvl4pPr>
            <a:lvl5pPr>
              <a:defRPr sz="3200">
                <a:solidFill>
                  <a:schemeClr val="tx1"/>
                </a:solidFill>
              </a:defRPr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292E72-B66D-40EE-B182-5585382A6D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32489" y="4379619"/>
            <a:ext cx="3879715" cy="2320326"/>
          </a:xfrm>
        </p:spPr>
        <p:txBody>
          <a:bodyPr/>
          <a:lstStyle>
            <a:lvl1pPr marL="0" indent="0" algn="r">
              <a:buNone/>
              <a:defRPr sz="2844">
                <a:solidFill>
                  <a:schemeClr val="tx1"/>
                </a:solidFill>
              </a:defRPr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73B694-B050-45F3-AE6F-A86A129F1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BD81-465B-40F2-9A54-9DF3B12AF598}" type="datetimeFigureOut">
              <a:rPr lang="en-US" dirty="0"/>
              <a:t>4/9/2026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8AE423-9CA5-46B3-96B1-7586AD020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4B973D-F1F7-47BC-996D-6100B7C89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7165039"/>
      </p:ext>
    </p:extLst>
  </p:cSld>
  <p:clrMapOvr>
    <a:masterClrMapping/>
  </p:clrMapOvr>
  <p:hf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E9949-4A1F-4DA9-9B75-A6180F954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0252" y="1659751"/>
            <a:ext cx="3947863" cy="2455049"/>
          </a:xfrm>
        </p:spPr>
        <p:txBody>
          <a:bodyPr anchor="b"/>
          <a:lstStyle>
            <a:lvl1pPr algn="r">
              <a:defRPr sz="4978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A8D794-C670-4569-93D9-0FF8B35AA7A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6400802" y="914400"/>
            <a:ext cx="6400799" cy="6400800"/>
          </a:xfrm>
        </p:spPr>
        <p:txBody>
          <a:bodyPr anchor="t"/>
          <a:lstStyle>
            <a:lvl1pPr marL="0" indent="0">
              <a:buNone/>
              <a:defRPr sz="5689">
                <a:solidFill>
                  <a:schemeClr val="tx1"/>
                </a:solidFill>
              </a:defRPr>
            </a:lvl1pPr>
            <a:lvl2pPr marL="812810" indent="0">
              <a:buNone/>
              <a:defRPr sz="4978"/>
            </a:lvl2pPr>
            <a:lvl3pPr marL="1625620" indent="0">
              <a:buNone/>
              <a:defRPr sz="4267"/>
            </a:lvl3pPr>
            <a:lvl4pPr marL="2438430" indent="0">
              <a:buNone/>
              <a:defRPr sz="3556"/>
            </a:lvl4pPr>
            <a:lvl5pPr marL="3251241" indent="0">
              <a:buNone/>
              <a:defRPr sz="3556"/>
            </a:lvl5pPr>
            <a:lvl6pPr marL="4064051" indent="0">
              <a:buNone/>
              <a:defRPr sz="3556"/>
            </a:lvl6pPr>
            <a:lvl7pPr marL="4876861" indent="0">
              <a:buNone/>
              <a:defRPr sz="3556"/>
            </a:lvl7pPr>
            <a:lvl8pPr marL="5689671" indent="0">
              <a:buNone/>
              <a:defRPr sz="3556"/>
            </a:lvl8pPr>
            <a:lvl9pPr marL="6502481" indent="0">
              <a:buNone/>
              <a:defRPr sz="3556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2486F6-AE67-4B34-B8E2-0B7576DC2E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20253" y="4379619"/>
            <a:ext cx="3891950" cy="2021180"/>
          </a:xfrm>
        </p:spPr>
        <p:txBody>
          <a:bodyPr/>
          <a:lstStyle>
            <a:lvl1pPr marL="0" indent="0" algn="r">
              <a:buNone/>
              <a:defRPr sz="2844">
                <a:solidFill>
                  <a:schemeClr val="tx1"/>
                </a:solidFill>
              </a:defRPr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98B11C-BB63-49A6-B488-29D4FBF8E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B3CEF-64EF-4C43-9530-8E9CBFD2CAD1}" type="datetimeFigureOut">
              <a:rPr lang="en-US" dirty="0"/>
              <a:t>4/9/2026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4B9166-6D36-4F0A-9ADD-33D49A0C3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B22B8F-7760-41B3-9053-DD90255B9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8904288"/>
      </p:ext>
    </p:extLst>
  </p:cSld>
  <p:clrMapOvr>
    <a:masterClrMapping/>
  </p:clrMapOvr>
  <p:hf sldNum="0"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8A5DE-E5C6-4DB9-AD28-8F1EAC6F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63E08E-9B2D-4740-9AC6-D5E1CFB95F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715479" y="2675949"/>
            <a:ext cx="11086121" cy="4639252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E3736-E8AA-4F58-9D3A-27050B287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F5BA7-0A17-4D30-9B66-E29324151C73}" type="datetimeFigureOut">
              <a:rPr lang="en-US" dirty="0"/>
              <a:t>4/9/2026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95E84-15BC-478B-9DAB-15025867B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9D98F-E0A8-4254-A957-7F17811D0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3371319"/>
      </p:ext>
    </p:extLst>
  </p:cSld>
  <p:clrMapOvr>
    <a:masterClrMapping/>
  </p:clrMapOvr>
  <p:hf sldNum="0"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DE70F5-2276-4F91-9FC2-8DA4B52881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972801" y="1761240"/>
            <a:ext cx="2110153" cy="555396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1856C5-C2FD-45E4-A631-AC06B5495B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418775" y="1761240"/>
            <a:ext cx="9407255" cy="555396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336EA-B6DD-4115-9C67-79A24C866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EBB1B-D40A-4DB9-B3DE-BAAE675B83CD}" type="datetimeFigureOut">
              <a:rPr lang="en-US" dirty="0"/>
              <a:t>4/9/2026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A668B-1DAB-449C-9BA4-7B1572A22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6567E-119D-4C98-93FF-73A332803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5635060"/>
      </p:ext>
    </p:extLst>
  </p:cSld>
  <p:clrMapOvr>
    <a:masterClrMapping/>
  </p:clrMapOvr>
  <p:hf sldNum="0" hdr="0" ft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84152A-7FE0-4708-B7C1-DBEC8F133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5479" y="1249946"/>
            <a:ext cx="11086121" cy="103366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1AB53-BAF9-439D-9451-47193CF2F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15479" y="2743200"/>
            <a:ext cx="11086121" cy="4572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96D9F-562A-496F-A530-A561994DC5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2565305" y="5869582"/>
            <a:ext cx="3207954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44" b="1" cap="all" spc="533" baseline="0">
                <a:solidFill>
                  <a:schemeClr val="tx1"/>
                </a:solidFill>
              </a:defRPr>
            </a:lvl1pPr>
          </a:lstStyle>
          <a:p>
            <a:fld id="{B70A3DFD-A535-46B2-84C1-61DC8B16A904}" type="datetimeFigureOut">
              <a:rPr lang="en-US" dirty="0"/>
              <a:t>4/9/2026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060FE-AAC3-4FAE-9EB4-BCAE72D956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2567626" y="1931872"/>
            <a:ext cx="3203312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44" b="1" cap="all" spc="533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7EDB2-8F31-42FA-B253-62D2414663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791490" y="3863824"/>
            <a:ext cx="755584" cy="51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44" b="1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196A61CA-0502-4EE4-9724-96EA822543E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336083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31" r:id="rId1"/>
    <p:sldLayoutId id="2147483932" r:id="rId2"/>
    <p:sldLayoutId id="2147483933" r:id="rId3"/>
    <p:sldLayoutId id="2147483934" r:id="rId4"/>
    <p:sldLayoutId id="2147483935" r:id="rId5"/>
    <p:sldLayoutId id="2147483936" r:id="rId6"/>
    <p:sldLayoutId id="2147483937" r:id="rId7"/>
    <p:sldLayoutId id="2147483938" r:id="rId8"/>
    <p:sldLayoutId id="2147483939" r:id="rId9"/>
    <p:sldLayoutId id="2147483940" r:id="rId10"/>
    <p:sldLayoutId id="2147483941" r:id="rId11"/>
  </p:sldLayoutIdLst>
  <p:hf sldNum="0" hdr="0" ftr="0"/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cap="all" spc="6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130000"/>
        </a:lnSpc>
        <a:spcBef>
          <a:spcPts val="1000"/>
        </a:spcBef>
        <a:buSzPct val="8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466344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64008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76" userDrawn="1">
          <p15:clr>
            <a:srgbClr val="F26B43"/>
          </p15:clr>
        </p15:guide>
        <p15:guide id="2" pos="4608" userDrawn="1">
          <p15:clr>
            <a:srgbClr val="F26B43"/>
          </p15:clr>
        </p15:guide>
        <p15:guide id="3" pos="8640" userDrawn="1">
          <p15:clr>
            <a:srgbClr val="F26B43"/>
          </p15:clr>
        </p15:guide>
        <p15:guide id="4" pos="8064" userDrawn="1">
          <p15:clr>
            <a:srgbClr val="F26B43"/>
          </p15:clr>
        </p15:guide>
        <p15:guide id="16" pos="576" userDrawn="1">
          <p15:clr>
            <a:srgbClr val="F26B43"/>
          </p15:clr>
        </p15:guide>
        <p15:guide id="23" orient="horz" pos="46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sv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8693DAE2-C47C-C1D7-C6C6-AE1FBE37DEBB}"/>
              </a:ext>
            </a:extLst>
          </p:cNvPr>
          <p:cNvSpPr/>
          <p:nvPr/>
        </p:nvSpPr>
        <p:spPr>
          <a:xfrm>
            <a:off x="793790" y="1898690"/>
            <a:ext cx="957905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Universidad de Las Américas · Facultad de Ingeniería y Ciencias Aplicadas</a:t>
            </a:r>
            <a:endParaRPr lang="en-US" sz="220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E7F5ABB0-1FF3-DEE6-8A73-CD78639D0367}"/>
              </a:ext>
            </a:extLst>
          </p:cNvPr>
          <p:cNvSpPr/>
          <p:nvPr/>
        </p:nvSpPr>
        <p:spPr>
          <a:xfrm>
            <a:off x="793790" y="2343745"/>
            <a:ext cx="965787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450">
                <a:solidFill>
                  <a:srgbClr val="F3F3F2"/>
                </a:solidFill>
                <a:latin typeface="IBM Plex Sans Medium"/>
                <a:ea typeface="IBM Plex Sans Medium" pitchFamily="34" charset="-122"/>
                <a:cs typeface="IBM Plex Sans Medium" pitchFamily="34" charset="-120"/>
              </a:rPr>
              <a:t>[</a:t>
            </a:r>
            <a:r>
              <a:rPr lang="en-US" sz="4450" err="1">
                <a:solidFill>
                  <a:srgbClr val="F3F3F2"/>
                </a:solidFill>
                <a:latin typeface="IBM Plex Sans Medium"/>
                <a:ea typeface="IBM Plex Sans Medium" pitchFamily="34" charset="-122"/>
                <a:cs typeface="IBM Plex Sans Medium" pitchFamily="34" charset="-120"/>
              </a:rPr>
              <a:t>Título</a:t>
            </a:r>
            <a:r>
              <a:rPr lang="en-US" sz="4450">
                <a:solidFill>
                  <a:srgbClr val="F3F3F2"/>
                </a:solidFill>
                <a:latin typeface="IBM Plex Sans Medium"/>
                <a:ea typeface="IBM Plex Sans Medium" pitchFamily="34" charset="-122"/>
                <a:cs typeface="IBM Plex Sans Medium" pitchFamily="34" charset="-120"/>
              </a:rPr>
              <a:t> del Proyecto de Fin de </a:t>
            </a:r>
            <a:r>
              <a:rPr lang="en-US" sz="4450" err="1">
                <a:solidFill>
                  <a:srgbClr val="F3F3F2"/>
                </a:solidFill>
                <a:latin typeface="IBM Plex Sans Medium"/>
                <a:ea typeface="IBM Plex Sans Medium" pitchFamily="34" charset="-122"/>
                <a:cs typeface="IBM Plex Sans Medium" pitchFamily="34" charset="-120"/>
              </a:rPr>
              <a:t>Máster</a:t>
            </a:r>
            <a:r>
              <a:rPr lang="en-US" sz="4450">
                <a:solidFill>
                  <a:srgbClr val="F3F3F2"/>
                </a:solidFill>
                <a:latin typeface="IBM Plex Sans Medium"/>
                <a:ea typeface="IBM Plex Sans Medium" pitchFamily="34" charset="-122"/>
                <a:cs typeface="IBM Plex Sans Medium" pitchFamily="34" charset="-120"/>
              </a:rPr>
              <a:t>]</a:t>
            </a:r>
            <a:endParaRPr lang="en-US" sz="4450">
              <a:latin typeface="IBM Plex Sans Medium"/>
            </a:endParaRPr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96A2757A-CFEF-FE44-837B-DE210164EC62}"/>
              </a:ext>
            </a:extLst>
          </p:cNvPr>
          <p:cNvSpPr/>
          <p:nvPr/>
        </p:nvSpPr>
        <p:spPr>
          <a:xfrm>
            <a:off x="793790" y="339268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[Subtítulo o descripción breve del proyecto]</a:t>
            </a:r>
            <a:endParaRPr lang="en-US" sz="1750"/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E9D3D408-F72B-19B7-9D8B-2E87220D7671}"/>
              </a:ext>
            </a:extLst>
          </p:cNvPr>
          <p:cNvSpPr/>
          <p:nvPr/>
        </p:nvSpPr>
        <p:spPr>
          <a:xfrm>
            <a:off x="793790" y="4124120"/>
            <a:ext cx="13042821" cy="35957"/>
          </a:xfrm>
          <a:prstGeom prst="rect">
            <a:avLst/>
          </a:prstGeom>
          <a:solidFill>
            <a:srgbClr val="D4D4D1">
              <a:alpha val="50000"/>
            </a:srgbClr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AFDC5527-6FED-8180-9880-B9DFB94C47E2}"/>
              </a:ext>
            </a:extLst>
          </p:cNvPr>
          <p:cNvSpPr/>
          <p:nvPr/>
        </p:nvSpPr>
        <p:spPr>
          <a:xfrm>
            <a:off x="793790" y="4770239"/>
            <a:ext cx="4196358" cy="30480"/>
          </a:xfrm>
          <a:prstGeom prst="rect">
            <a:avLst/>
          </a:prstGeom>
          <a:solidFill>
            <a:srgbClr val="FFBC8F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7D717FF7-837C-A70E-4B21-CFAE55D276E7}"/>
              </a:ext>
            </a:extLst>
          </p:cNvPr>
          <p:cNvSpPr/>
          <p:nvPr/>
        </p:nvSpPr>
        <p:spPr>
          <a:xfrm>
            <a:off x="793790" y="494454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Programa</a:t>
            </a:r>
            <a:endParaRPr lang="en-US" sz="2200"/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D1406085-C91E-7F2A-9727-4B4FF2CA6FF7}"/>
              </a:ext>
            </a:extLst>
          </p:cNvPr>
          <p:cNvSpPr/>
          <p:nvPr/>
        </p:nvSpPr>
        <p:spPr>
          <a:xfrm>
            <a:off x="793790" y="5434965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Maestría en Inteligencia Artificial Aplicada</a:t>
            </a:r>
            <a:endParaRPr lang="en-US" sz="175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DEF4844C-1642-3CD0-51B9-BD36211BAD2D}"/>
              </a:ext>
            </a:extLst>
          </p:cNvPr>
          <p:cNvSpPr/>
          <p:nvPr/>
        </p:nvSpPr>
        <p:spPr>
          <a:xfrm>
            <a:off x="5216962" y="4770239"/>
            <a:ext cx="4196358" cy="30480"/>
          </a:xfrm>
          <a:prstGeom prst="rect">
            <a:avLst/>
          </a:prstGeom>
          <a:solidFill>
            <a:srgbClr val="FFBC8F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03307181-B742-6F1C-C382-0AAB6F965957}"/>
              </a:ext>
            </a:extLst>
          </p:cNvPr>
          <p:cNvSpPr/>
          <p:nvPr/>
        </p:nvSpPr>
        <p:spPr>
          <a:xfrm>
            <a:off x="5216962" y="494454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Presentado por</a:t>
            </a:r>
            <a:endParaRPr lang="en-US" sz="2200"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68C9768C-9D63-69E0-64B8-99E8D382F429}"/>
              </a:ext>
            </a:extLst>
          </p:cNvPr>
          <p:cNvSpPr/>
          <p:nvPr/>
        </p:nvSpPr>
        <p:spPr>
          <a:xfrm>
            <a:off x="5216962" y="5434965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[Nombres de los estudiantes]</a:t>
            </a:r>
            <a:endParaRPr lang="en-US" sz="1750"/>
          </a:p>
        </p:txBody>
      </p:sp>
      <p:sp>
        <p:nvSpPr>
          <p:cNvPr id="26" name="Shape 10">
            <a:extLst>
              <a:ext uri="{FF2B5EF4-FFF2-40B4-BE49-F238E27FC236}">
                <a16:creationId xmlns:a16="http://schemas.microsoft.com/office/drawing/2014/main" id="{CE25704A-6EAA-F015-9BFA-5B6151B8AD15}"/>
              </a:ext>
            </a:extLst>
          </p:cNvPr>
          <p:cNvSpPr/>
          <p:nvPr/>
        </p:nvSpPr>
        <p:spPr>
          <a:xfrm>
            <a:off x="9640133" y="4770239"/>
            <a:ext cx="4196358" cy="30480"/>
          </a:xfrm>
          <a:prstGeom prst="rect">
            <a:avLst/>
          </a:prstGeom>
          <a:solidFill>
            <a:srgbClr val="FFBC8F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F1A231F2-C5E8-A99B-EEF8-A091ECD15274}"/>
              </a:ext>
            </a:extLst>
          </p:cNvPr>
          <p:cNvSpPr/>
          <p:nvPr/>
        </p:nvSpPr>
        <p:spPr>
          <a:xfrm>
            <a:off x="9640133" y="494454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Tutor / Guía</a:t>
            </a:r>
            <a:endParaRPr lang="en-US" sz="2200"/>
          </a:p>
        </p:txBody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FC4A899B-332E-46F4-F443-B1795F3903AA}"/>
              </a:ext>
            </a:extLst>
          </p:cNvPr>
          <p:cNvSpPr/>
          <p:nvPr/>
        </p:nvSpPr>
        <p:spPr>
          <a:xfrm>
            <a:off x="9640133" y="5434965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[Nombre del tutor académico]</a:t>
            </a:r>
            <a:endParaRPr lang="en-US" sz="1750"/>
          </a:p>
        </p:txBody>
      </p:sp>
    </p:spTree>
    <p:extLst>
      <p:ext uri="{BB962C8B-B14F-4D97-AF65-F5344CB8AC3E}">
        <p14:creationId xmlns:p14="http://schemas.microsoft.com/office/powerpoint/2010/main" val="2159322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0">
            <a:extLst>
              <a:ext uri="{FF2B5EF4-FFF2-40B4-BE49-F238E27FC236}">
                <a16:creationId xmlns:a16="http://schemas.microsoft.com/office/drawing/2014/main" id="{4944DBEF-E871-BA6C-E75D-E20E1151050C}"/>
              </a:ext>
            </a:extLst>
          </p:cNvPr>
          <p:cNvSpPr/>
          <p:nvPr/>
        </p:nvSpPr>
        <p:spPr>
          <a:xfrm>
            <a:off x="793790" y="1944767"/>
            <a:ext cx="1224468" cy="426244"/>
          </a:xfrm>
          <a:prstGeom prst="roundRect">
            <a:avLst>
              <a:gd name="adj" fmla="val 6386"/>
            </a:avLst>
          </a:prstGeom>
          <a:solidFill>
            <a:srgbClr val="CC000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2D3C2C0A-BC0A-12B8-5AEA-A9B5550CD487}"/>
              </a:ext>
            </a:extLst>
          </p:cNvPr>
          <p:cNvSpPr/>
          <p:nvPr/>
        </p:nvSpPr>
        <p:spPr>
          <a:xfrm>
            <a:off x="929878" y="2012752"/>
            <a:ext cx="95229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CONTEXTO</a:t>
            </a:r>
            <a:endParaRPr lang="en-US" sz="140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1062E1EC-E0DC-8829-2C36-D973333F4459}"/>
              </a:ext>
            </a:extLst>
          </p:cNvPr>
          <p:cNvSpPr/>
          <p:nvPr/>
        </p:nvSpPr>
        <p:spPr>
          <a:xfrm>
            <a:off x="793790" y="2461736"/>
            <a:ext cx="742118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Contexto de la Organización</a:t>
            </a:r>
            <a:endParaRPr lang="en-US" sz="4450"/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71D54E9F-8AE5-A675-71D6-02B0FD35B9A7}"/>
              </a:ext>
            </a:extLst>
          </p:cNvPr>
          <p:cNvSpPr/>
          <p:nvPr/>
        </p:nvSpPr>
        <p:spPr>
          <a:xfrm>
            <a:off x="793790" y="3510677"/>
            <a:ext cx="4305540" cy="2774156"/>
          </a:xfrm>
          <a:prstGeom prst="roundRect">
            <a:avLst>
              <a:gd name="adj" fmla="val 1226"/>
            </a:avLst>
          </a:prstGeom>
          <a:solidFill>
            <a:srgbClr val="292C32"/>
          </a:solidFill>
          <a:ln w="30480">
            <a:solidFill>
              <a:srgbClr val="61646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F8B17605-EC0A-5269-FE4C-E4CA01A82404}"/>
              </a:ext>
            </a:extLst>
          </p:cNvPr>
          <p:cNvSpPr/>
          <p:nvPr/>
        </p:nvSpPr>
        <p:spPr>
          <a:xfrm>
            <a:off x="824270" y="3541157"/>
            <a:ext cx="4230932" cy="680442"/>
          </a:xfrm>
          <a:prstGeom prst="rect">
            <a:avLst/>
          </a:prstGeom>
          <a:solidFill>
            <a:srgbClr val="484B51"/>
          </a:solidFill>
          <a:ln/>
        </p:spPr>
        <p:txBody>
          <a:bodyPr/>
          <a:lstStyle/>
          <a:p>
            <a:endParaRPr lang="es-EC"/>
          </a:p>
        </p:txBody>
      </p:sp>
      <p:pic>
        <p:nvPicPr>
          <p:cNvPr id="16" name="Image 0" descr="preencoded.png">
            <a:extLst>
              <a:ext uri="{FF2B5EF4-FFF2-40B4-BE49-F238E27FC236}">
                <a16:creationId xmlns:a16="http://schemas.microsoft.com/office/drawing/2014/main" id="{0B076F77-C508-12BD-4746-5532688F32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21888" y="3711178"/>
            <a:ext cx="353809" cy="340162"/>
          </a:xfrm>
          <a:prstGeom prst="rect">
            <a:avLst/>
          </a:prstGeom>
        </p:spPr>
      </p:pic>
      <p:sp>
        <p:nvSpPr>
          <p:cNvPr id="18" name="Text 5">
            <a:extLst>
              <a:ext uri="{FF2B5EF4-FFF2-40B4-BE49-F238E27FC236}">
                <a16:creationId xmlns:a16="http://schemas.microsoft.com/office/drawing/2014/main" id="{399D38D4-1D4D-ACEC-CA9F-2FF02A91A923}"/>
              </a:ext>
            </a:extLst>
          </p:cNvPr>
          <p:cNvSpPr/>
          <p:nvPr/>
        </p:nvSpPr>
        <p:spPr>
          <a:xfrm>
            <a:off x="1051084" y="4448413"/>
            <a:ext cx="290347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Identificación</a:t>
            </a:r>
            <a:endParaRPr lang="en-US" sz="2200"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95C9939A-E10D-13A9-C96C-5F460BCD4A2B}"/>
              </a:ext>
            </a:extLst>
          </p:cNvPr>
          <p:cNvSpPr/>
          <p:nvPr/>
        </p:nvSpPr>
        <p:spPr>
          <a:xfrm>
            <a:off x="1051084" y="4938832"/>
            <a:ext cx="377730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Nombre de la empresa, sector industrial y ubicación geográfica donde opera.</a:t>
            </a:r>
            <a:endParaRPr lang="en-US" sz="1750"/>
          </a:p>
        </p:txBody>
      </p:sp>
      <p:sp>
        <p:nvSpPr>
          <p:cNvPr id="22" name="Shape 7">
            <a:extLst>
              <a:ext uri="{FF2B5EF4-FFF2-40B4-BE49-F238E27FC236}">
                <a16:creationId xmlns:a16="http://schemas.microsoft.com/office/drawing/2014/main" id="{14DD8FE6-6064-C72B-7994-E940CE0E748B}"/>
              </a:ext>
            </a:extLst>
          </p:cNvPr>
          <p:cNvSpPr/>
          <p:nvPr/>
        </p:nvSpPr>
        <p:spPr>
          <a:xfrm>
            <a:off x="5216962" y="3510677"/>
            <a:ext cx="4305540" cy="2774156"/>
          </a:xfrm>
          <a:prstGeom prst="roundRect">
            <a:avLst>
              <a:gd name="adj" fmla="val 1226"/>
            </a:avLst>
          </a:prstGeom>
          <a:solidFill>
            <a:srgbClr val="292C32"/>
          </a:solidFill>
          <a:ln w="30480">
            <a:solidFill>
              <a:srgbClr val="61646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4" name="Shape 8">
            <a:extLst>
              <a:ext uri="{FF2B5EF4-FFF2-40B4-BE49-F238E27FC236}">
                <a16:creationId xmlns:a16="http://schemas.microsoft.com/office/drawing/2014/main" id="{65C3E45F-5C09-7281-DC52-0A42A896DA7A}"/>
              </a:ext>
            </a:extLst>
          </p:cNvPr>
          <p:cNvSpPr/>
          <p:nvPr/>
        </p:nvSpPr>
        <p:spPr>
          <a:xfrm>
            <a:off x="5247442" y="3541157"/>
            <a:ext cx="4230932" cy="680442"/>
          </a:xfrm>
          <a:prstGeom prst="rect">
            <a:avLst/>
          </a:prstGeom>
          <a:solidFill>
            <a:srgbClr val="484B51"/>
          </a:solidFill>
          <a:ln/>
        </p:spPr>
        <p:txBody>
          <a:bodyPr/>
          <a:lstStyle/>
          <a:p>
            <a:endParaRPr lang="es-EC"/>
          </a:p>
        </p:txBody>
      </p:sp>
      <p:pic>
        <p:nvPicPr>
          <p:cNvPr id="26" name="Image 1" descr="preencoded.png">
            <a:extLst>
              <a:ext uri="{FF2B5EF4-FFF2-40B4-BE49-F238E27FC236}">
                <a16:creationId xmlns:a16="http://schemas.microsoft.com/office/drawing/2014/main" id="{C3594B84-C38A-BAD7-C738-8804A5EE65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5060" y="3711178"/>
            <a:ext cx="353809" cy="340162"/>
          </a:xfrm>
          <a:prstGeom prst="rect">
            <a:avLst/>
          </a:prstGeom>
        </p:spPr>
      </p:pic>
      <p:sp>
        <p:nvSpPr>
          <p:cNvPr id="28" name="Text 9">
            <a:extLst>
              <a:ext uri="{FF2B5EF4-FFF2-40B4-BE49-F238E27FC236}">
                <a16:creationId xmlns:a16="http://schemas.microsoft.com/office/drawing/2014/main" id="{4A012298-00B0-55ED-9918-346DD453A94E}"/>
              </a:ext>
            </a:extLst>
          </p:cNvPr>
          <p:cNvSpPr/>
          <p:nvPr/>
        </p:nvSpPr>
        <p:spPr>
          <a:xfrm>
            <a:off x="5474256" y="4448413"/>
            <a:ext cx="290347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Misión y Visión</a:t>
            </a:r>
            <a:endParaRPr lang="en-US" sz="220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FDDD8E81-08DC-8627-0FEB-836C7E3DAFAF}"/>
              </a:ext>
            </a:extLst>
          </p:cNvPr>
          <p:cNvSpPr/>
          <p:nvPr/>
        </p:nvSpPr>
        <p:spPr>
          <a:xfrm>
            <a:off x="5474256" y="4938832"/>
            <a:ext cx="377730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Breve descripción alineada al uso estratégico de tecnología e innovación.</a:t>
            </a:r>
            <a:endParaRPr lang="en-US" sz="1750"/>
          </a:p>
        </p:txBody>
      </p:sp>
      <p:sp>
        <p:nvSpPr>
          <p:cNvPr id="32" name="Shape 11">
            <a:extLst>
              <a:ext uri="{FF2B5EF4-FFF2-40B4-BE49-F238E27FC236}">
                <a16:creationId xmlns:a16="http://schemas.microsoft.com/office/drawing/2014/main" id="{48755A67-E6F2-6419-10DE-F8839979F0C4}"/>
              </a:ext>
            </a:extLst>
          </p:cNvPr>
          <p:cNvSpPr/>
          <p:nvPr/>
        </p:nvSpPr>
        <p:spPr>
          <a:xfrm>
            <a:off x="9640133" y="3510677"/>
            <a:ext cx="4305540" cy="2774156"/>
          </a:xfrm>
          <a:prstGeom prst="roundRect">
            <a:avLst>
              <a:gd name="adj" fmla="val 1226"/>
            </a:avLst>
          </a:prstGeom>
          <a:solidFill>
            <a:srgbClr val="292C32"/>
          </a:solidFill>
          <a:ln w="30480">
            <a:solidFill>
              <a:srgbClr val="61646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4" name="Shape 12">
            <a:extLst>
              <a:ext uri="{FF2B5EF4-FFF2-40B4-BE49-F238E27FC236}">
                <a16:creationId xmlns:a16="http://schemas.microsoft.com/office/drawing/2014/main" id="{0A966985-6B66-6E66-B624-18456FE70665}"/>
              </a:ext>
            </a:extLst>
          </p:cNvPr>
          <p:cNvSpPr/>
          <p:nvPr/>
        </p:nvSpPr>
        <p:spPr>
          <a:xfrm>
            <a:off x="9670613" y="3541157"/>
            <a:ext cx="4230932" cy="680442"/>
          </a:xfrm>
          <a:prstGeom prst="rect">
            <a:avLst/>
          </a:prstGeom>
          <a:solidFill>
            <a:srgbClr val="484B51"/>
          </a:solidFill>
          <a:ln/>
        </p:spPr>
        <p:txBody>
          <a:bodyPr/>
          <a:lstStyle/>
          <a:p>
            <a:endParaRPr lang="es-EC"/>
          </a:p>
        </p:txBody>
      </p:sp>
      <p:pic>
        <p:nvPicPr>
          <p:cNvPr id="36" name="Image 2" descr="preencoded.png">
            <a:extLst>
              <a:ext uri="{FF2B5EF4-FFF2-40B4-BE49-F238E27FC236}">
                <a16:creationId xmlns:a16="http://schemas.microsoft.com/office/drawing/2014/main" id="{EEB6A8A5-A5C1-B769-2B02-F8AB30746C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68232" y="3711178"/>
            <a:ext cx="353809" cy="340162"/>
          </a:xfrm>
          <a:prstGeom prst="rect">
            <a:avLst/>
          </a:prstGeom>
        </p:spPr>
      </p:pic>
      <p:sp>
        <p:nvSpPr>
          <p:cNvPr id="38" name="Text 13">
            <a:extLst>
              <a:ext uri="{FF2B5EF4-FFF2-40B4-BE49-F238E27FC236}">
                <a16:creationId xmlns:a16="http://schemas.microsoft.com/office/drawing/2014/main" id="{1E2E2D23-4ADC-3D34-D6FC-9C6EFDCDAAF5}"/>
              </a:ext>
            </a:extLst>
          </p:cNvPr>
          <p:cNvSpPr/>
          <p:nvPr/>
        </p:nvSpPr>
        <p:spPr>
          <a:xfrm>
            <a:off x="9897427" y="4448413"/>
            <a:ext cx="290347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Área de Aplicación</a:t>
            </a:r>
            <a:endParaRPr lang="en-US" sz="2200"/>
          </a:p>
        </p:txBody>
      </p:sp>
      <p:sp>
        <p:nvSpPr>
          <p:cNvPr id="40" name="Text 14">
            <a:extLst>
              <a:ext uri="{FF2B5EF4-FFF2-40B4-BE49-F238E27FC236}">
                <a16:creationId xmlns:a16="http://schemas.microsoft.com/office/drawing/2014/main" id="{87C4DD8E-B27C-398C-6D7F-BFF27AE6D163}"/>
              </a:ext>
            </a:extLst>
          </p:cNvPr>
          <p:cNvSpPr/>
          <p:nvPr/>
        </p:nvSpPr>
        <p:spPr>
          <a:xfrm>
            <a:off x="9897427" y="4938832"/>
            <a:ext cx="377730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Departamento donde se detectó la necesidad: Finanzas, Legal, Salud u otro.</a:t>
            </a:r>
            <a:endParaRPr lang="en-US" sz="1750"/>
          </a:p>
        </p:txBody>
      </p:sp>
    </p:spTree>
    <p:extLst>
      <p:ext uri="{BB962C8B-B14F-4D97-AF65-F5344CB8AC3E}">
        <p14:creationId xmlns:p14="http://schemas.microsoft.com/office/powerpoint/2010/main" val="9009273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0">
            <a:extLst>
              <a:ext uri="{FF2B5EF4-FFF2-40B4-BE49-F238E27FC236}">
                <a16:creationId xmlns:a16="http://schemas.microsoft.com/office/drawing/2014/main" id="{EFB2CD8D-D104-078D-7E65-843E27971B52}"/>
              </a:ext>
            </a:extLst>
          </p:cNvPr>
          <p:cNvSpPr/>
          <p:nvPr/>
        </p:nvSpPr>
        <p:spPr>
          <a:xfrm>
            <a:off x="1255157" y="483037"/>
            <a:ext cx="941308" cy="304681"/>
          </a:xfrm>
          <a:prstGeom prst="roundRect">
            <a:avLst>
              <a:gd name="adj" fmla="val 6918"/>
            </a:avLst>
          </a:prstGeom>
          <a:solidFill>
            <a:srgbClr val="CC000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577735F3-2C31-D236-D1DB-43CD0445C56C}"/>
              </a:ext>
            </a:extLst>
          </p:cNvPr>
          <p:cNvSpPr/>
          <p:nvPr/>
        </p:nvSpPr>
        <p:spPr>
          <a:xfrm>
            <a:off x="1360527" y="535662"/>
            <a:ext cx="730568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PROBLEMA</a:t>
            </a:r>
            <a:endParaRPr lang="en-US" sz="1100" dirty="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66767E60-9BE9-178C-AD00-3B1BD3D68198}"/>
              </a:ext>
            </a:extLst>
          </p:cNvPr>
          <p:cNvSpPr/>
          <p:nvPr/>
        </p:nvSpPr>
        <p:spPr>
          <a:xfrm>
            <a:off x="1255157" y="842010"/>
            <a:ext cx="8183523" cy="548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Identificación del Problema y Relevancia</a:t>
            </a:r>
            <a:endParaRPr lang="en-US" sz="345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7238C15E-738F-7924-0AFF-4F8AB867075E}"/>
              </a:ext>
            </a:extLst>
          </p:cNvPr>
          <p:cNvSpPr/>
          <p:nvPr/>
        </p:nvSpPr>
        <p:spPr>
          <a:xfrm>
            <a:off x="1255157" y="3700701"/>
            <a:ext cx="2195632" cy="2744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El </a:t>
            </a:r>
            <a:r>
              <a:rPr lang="en-US" sz="1700" dirty="0" err="1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Problema</a:t>
            </a:r>
            <a:endParaRPr lang="en-US" sz="17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04B36D94-010B-6FC6-09C4-CB6E8857A3D3}"/>
              </a:ext>
            </a:extLst>
          </p:cNvPr>
          <p:cNvSpPr/>
          <p:nvPr/>
        </p:nvSpPr>
        <p:spPr>
          <a:xfrm>
            <a:off x="1255157" y="4111109"/>
            <a:ext cx="5845850" cy="498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Descripción detallada de las causas raíz y los efectos detectados en el área de aplicación.</a:t>
            </a:r>
            <a:endParaRPr lang="en-US" sz="1350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441DBA87-42C4-E10C-BC1B-D1793D7DFB44}"/>
              </a:ext>
            </a:extLst>
          </p:cNvPr>
          <p:cNvSpPr/>
          <p:nvPr/>
        </p:nvSpPr>
        <p:spPr>
          <a:xfrm>
            <a:off x="1255157" y="4745474"/>
            <a:ext cx="2195632" cy="2744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Justificación</a:t>
            </a:r>
            <a:endParaRPr lang="en-US" sz="1700"/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B9A8CFE5-0E20-24B4-09CD-AD1DFB455942}"/>
              </a:ext>
            </a:extLst>
          </p:cNvPr>
          <p:cNvSpPr/>
          <p:nvPr/>
        </p:nvSpPr>
        <p:spPr>
          <a:xfrm>
            <a:off x="1255157" y="5155883"/>
            <a:ext cx="5845850" cy="498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¿Por qué es urgente resolverlo? Incluir impacto cuantitativo o cualitativo medible.</a:t>
            </a:r>
            <a:endParaRPr lang="en-US" sz="1350"/>
          </a:p>
        </p:txBody>
      </p:sp>
      <p:pic>
        <p:nvPicPr>
          <p:cNvPr id="20" name="Image 0" descr="preencoded.png">
            <a:extLst>
              <a:ext uri="{FF2B5EF4-FFF2-40B4-BE49-F238E27FC236}">
                <a16:creationId xmlns:a16="http://schemas.microsoft.com/office/drawing/2014/main" id="{C65B03D9-25E8-4D44-B6CB-328CC9DB4B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7013" y="1747838"/>
            <a:ext cx="5845850" cy="5845850"/>
          </a:xfrm>
          <a:prstGeom prst="rect">
            <a:avLst/>
          </a:prstGeom>
        </p:spPr>
      </p:pic>
      <p:pic>
        <p:nvPicPr>
          <p:cNvPr id="22" name="Image 1" descr="preencoded.png">
            <a:extLst>
              <a:ext uri="{FF2B5EF4-FFF2-40B4-BE49-F238E27FC236}">
                <a16:creationId xmlns:a16="http://schemas.microsoft.com/office/drawing/2014/main" id="{740AFBCD-55C1-C0FE-3564-541BD86AD6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9413" y="1900238"/>
            <a:ext cx="5845850" cy="584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399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0">
            <a:extLst>
              <a:ext uri="{FF2B5EF4-FFF2-40B4-BE49-F238E27FC236}">
                <a16:creationId xmlns:a16="http://schemas.microsoft.com/office/drawing/2014/main" id="{8F06FB4B-E20A-85DA-86F3-1A8417CEDAB9}"/>
              </a:ext>
            </a:extLst>
          </p:cNvPr>
          <p:cNvSpPr/>
          <p:nvPr/>
        </p:nvSpPr>
        <p:spPr>
          <a:xfrm>
            <a:off x="793790" y="1259919"/>
            <a:ext cx="1219081" cy="426244"/>
          </a:xfrm>
          <a:prstGeom prst="roundRect">
            <a:avLst>
              <a:gd name="adj" fmla="val 6386"/>
            </a:avLst>
          </a:prstGeom>
          <a:solidFill>
            <a:srgbClr val="CC000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DC3A473E-8219-30C0-0049-69391250F03F}"/>
              </a:ext>
            </a:extLst>
          </p:cNvPr>
          <p:cNvSpPr/>
          <p:nvPr/>
        </p:nvSpPr>
        <p:spPr>
          <a:xfrm>
            <a:off x="929878" y="1327904"/>
            <a:ext cx="94690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OBJETIVOS</a:t>
            </a:r>
            <a:endParaRPr lang="en-US" sz="140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986E68C1-EF00-190F-DC36-80A3B162548A}"/>
              </a:ext>
            </a:extLst>
          </p:cNvPr>
          <p:cNvSpPr/>
          <p:nvPr/>
        </p:nvSpPr>
        <p:spPr>
          <a:xfrm>
            <a:off x="793790" y="1776889"/>
            <a:ext cx="844176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Objetivos y Alcance del Proyecto</a:t>
            </a:r>
            <a:endParaRPr lang="en-US" sz="4450"/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01F95E38-E745-1B9D-B9AD-8078441960B4}"/>
              </a:ext>
            </a:extLst>
          </p:cNvPr>
          <p:cNvSpPr/>
          <p:nvPr/>
        </p:nvSpPr>
        <p:spPr>
          <a:xfrm>
            <a:off x="793790" y="2825829"/>
            <a:ext cx="13042821" cy="1326713"/>
          </a:xfrm>
          <a:prstGeom prst="roundRect">
            <a:avLst>
              <a:gd name="adj" fmla="val 2565"/>
            </a:avLst>
          </a:prstGeom>
          <a:solidFill>
            <a:srgbClr val="CC0000"/>
          </a:solidFill>
          <a:ln/>
        </p:spPr>
        <p:txBody>
          <a:bodyPr/>
          <a:lstStyle/>
          <a:p>
            <a:endParaRPr lang="es-EC"/>
          </a:p>
        </p:txBody>
      </p:sp>
      <p:pic>
        <p:nvPicPr>
          <p:cNvPr id="14" name="Image 0" descr="preencoded.png">
            <a:extLst>
              <a:ext uri="{FF2B5EF4-FFF2-40B4-BE49-F238E27FC236}">
                <a16:creationId xmlns:a16="http://schemas.microsoft.com/office/drawing/2014/main" id="{FE79E28B-C0ED-3397-5A1A-1F4D109251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604" y="3169920"/>
            <a:ext cx="283488" cy="226814"/>
          </a:xfrm>
          <a:prstGeom prst="rect">
            <a:avLst/>
          </a:prstGeom>
        </p:spPr>
      </p:pic>
      <p:sp>
        <p:nvSpPr>
          <p:cNvPr id="16" name="Text 4">
            <a:extLst>
              <a:ext uri="{FF2B5EF4-FFF2-40B4-BE49-F238E27FC236}">
                <a16:creationId xmlns:a16="http://schemas.microsoft.com/office/drawing/2014/main" id="{80F2C355-4293-8423-49EC-B66D73D29D4D}"/>
              </a:ext>
            </a:extLst>
          </p:cNvPr>
          <p:cNvSpPr/>
          <p:nvPr/>
        </p:nvSpPr>
        <p:spPr>
          <a:xfrm>
            <a:off x="1530906" y="3109317"/>
            <a:ext cx="120788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Objetivo General (SMART):</a:t>
            </a:r>
            <a:r>
              <a:rPr lang="en-US" sz="175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Descripción clara de qué se va a desarrollar, para quién y con qué fin medible en un tiempo determinado.</a:t>
            </a:r>
            <a:endParaRPr lang="en-US" sz="1750"/>
          </a:p>
        </p:txBody>
      </p:sp>
      <p:sp>
        <p:nvSpPr>
          <p:cNvPr id="18" name="Shape 5">
            <a:extLst>
              <a:ext uri="{FF2B5EF4-FFF2-40B4-BE49-F238E27FC236}">
                <a16:creationId xmlns:a16="http://schemas.microsoft.com/office/drawing/2014/main" id="{957DC114-0BEB-7CFB-9D98-D848224E0AA0}"/>
              </a:ext>
            </a:extLst>
          </p:cNvPr>
          <p:cNvSpPr/>
          <p:nvPr/>
        </p:nvSpPr>
        <p:spPr>
          <a:xfrm>
            <a:off x="793790" y="4407694"/>
            <a:ext cx="13042821" cy="2561868"/>
          </a:xfrm>
          <a:prstGeom prst="roundRect">
            <a:avLst>
              <a:gd name="adj" fmla="val 1328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0" name="Shape 6">
            <a:extLst>
              <a:ext uri="{FF2B5EF4-FFF2-40B4-BE49-F238E27FC236}">
                <a16:creationId xmlns:a16="http://schemas.microsoft.com/office/drawing/2014/main" id="{0D5D1BC9-BE26-9704-47FD-200035781F9B}"/>
              </a:ext>
            </a:extLst>
          </p:cNvPr>
          <p:cNvSpPr/>
          <p:nvPr/>
        </p:nvSpPr>
        <p:spPr>
          <a:xfrm>
            <a:off x="793790" y="4407694"/>
            <a:ext cx="4347567" cy="2561868"/>
          </a:xfrm>
          <a:prstGeom prst="roundRect">
            <a:avLst>
              <a:gd name="adj" fmla="val 1328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3DC69A41-9461-2881-F990-95873FBBB364}"/>
              </a:ext>
            </a:extLst>
          </p:cNvPr>
          <p:cNvSpPr/>
          <p:nvPr/>
        </p:nvSpPr>
        <p:spPr>
          <a:xfrm>
            <a:off x="1020604" y="4634508"/>
            <a:ext cx="283523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D4D4D1"/>
                </a:solidFill>
                <a:latin typeface="IBM Plex Sans Medium"/>
                <a:ea typeface="IBM Plex Sans Medium" pitchFamily="34" charset="-122"/>
                <a:cs typeface="IBM Plex Sans Medium" pitchFamily="34" charset="-120"/>
              </a:rPr>
              <a:t> Incluye</a:t>
            </a:r>
            <a:endParaRPr lang="en-US" sz="2200">
              <a:latin typeface="IBM Plex Sans Medium"/>
            </a:endParaRPr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FE50B018-D18C-B2CE-7966-0A5DC9D06731}"/>
              </a:ext>
            </a:extLst>
          </p:cNvPr>
          <p:cNvSpPr/>
          <p:nvPr/>
        </p:nvSpPr>
        <p:spPr>
          <a:xfrm>
            <a:off x="1020604" y="5132546"/>
            <a:ext cx="3893939" cy="1610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Componentes y funcionalidades dentro del alcance</a:t>
            </a:r>
            <a:endParaRPr lang="en-US" sz="175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Módulos del prototipo a desarrollar</a:t>
            </a:r>
            <a:endParaRPr lang="en-US" sz="175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Datos y fuentes contemplados</a:t>
            </a:r>
            <a:endParaRPr lang="en-US" sz="1750"/>
          </a:p>
        </p:txBody>
      </p:sp>
      <p:sp>
        <p:nvSpPr>
          <p:cNvPr id="26" name="Shape 9">
            <a:extLst>
              <a:ext uri="{FF2B5EF4-FFF2-40B4-BE49-F238E27FC236}">
                <a16:creationId xmlns:a16="http://schemas.microsoft.com/office/drawing/2014/main" id="{8D8E25F0-EB45-7F92-6AB2-782F868198B7}"/>
              </a:ext>
            </a:extLst>
          </p:cNvPr>
          <p:cNvSpPr/>
          <p:nvPr/>
        </p:nvSpPr>
        <p:spPr>
          <a:xfrm>
            <a:off x="5141357" y="4407694"/>
            <a:ext cx="4347567" cy="2561868"/>
          </a:xfrm>
          <a:prstGeom prst="rect">
            <a:avLst/>
          </a:prstGeom>
          <a:solidFill>
            <a:srgbClr val="484B51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8" name="Shape 10">
            <a:extLst>
              <a:ext uri="{FF2B5EF4-FFF2-40B4-BE49-F238E27FC236}">
                <a16:creationId xmlns:a16="http://schemas.microsoft.com/office/drawing/2014/main" id="{1D0D6DFB-43DA-AE64-01A3-EB7A6DBE8454}"/>
              </a:ext>
            </a:extLst>
          </p:cNvPr>
          <p:cNvSpPr/>
          <p:nvPr/>
        </p:nvSpPr>
        <p:spPr>
          <a:xfrm>
            <a:off x="5141357" y="4407694"/>
            <a:ext cx="30480" cy="2561868"/>
          </a:xfrm>
          <a:prstGeom prst="roundRect">
            <a:avLst>
              <a:gd name="adj" fmla="val 111628"/>
            </a:avLst>
          </a:prstGeom>
          <a:solidFill>
            <a:srgbClr val="61646A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0" name="Text 11">
            <a:extLst>
              <a:ext uri="{FF2B5EF4-FFF2-40B4-BE49-F238E27FC236}">
                <a16:creationId xmlns:a16="http://schemas.microsoft.com/office/drawing/2014/main" id="{D4C30D96-4EEE-80F9-E5DE-897B6C5984A1}"/>
              </a:ext>
            </a:extLst>
          </p:cNvPr>
          <p:cNvSpPr/>
          <p:nvPr/>
        </p:nvSpPr>
        <p:spPr>
          <a:xfrm>
            <a:off x="5368171" y="4634508"/>
            <a:ext cx="283523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D4D4D1"/>
                </a:solidFill>
                <a:latin typeface="IBM Plex Sans Medium"/>
                <a:ea typeface="IBM Plex Sans Medium" pitchFamily="34" charset="-122"/>
                <a:cs typeface="IBM Plex Sans Medium" pitchFamily="34" charset="-120"/>
              </a:rPr>
              <a:t> </a:t>
            </a:r>
            <a:r>
              <a:rPr lang="en-US" sz="2200" err="1">
                <a:solidFill>
                  <a:srgbClr val="D4D4D1"/>
                </a:solidFill>
                <a:latin typeface="IBM Plex Sans Medium"/>
                <a:ea typeface="IBM Plex Sans Medium" pitchFamily="34" charset="-122"/>
                <a:cs typeface="IBM Plex Sans Medium" pitchFamily="34" charset="-120"/>
              </a:rPr>
              <a:t>Excluye</a:t>
            </a:r>
            <a:endParaRPr lang="en-US" sz="2200" err="1">
              <a:latin typeface="IBM Plex Sans Medium"/>
            </a:endParaRPr>
          </a:p>
        </p:txBody>
      </p:sp>
      <p:sp>
        <p:nvSpPr>
          <p:cNvPr id="32" name="Text 12">
            <a:extLst>
              <a:ext uri="{FF2B5EF4-FFF2-40B4-BE49-F238E27FC236}">
                <a16:creationId xmlns:a16="http://schemas.microsoft.com/office/drawing/2014/main" id="{6E51A482-7589-A669-5477-A9C107BABA77}"/>
              </a:ext>
            </a:extLst>
          </p:cNvPr>
          <p:cNvSpPr/>
          <p:nvPr/>
        </p:nvSpPr>
        <p:spPr>
          <a:xfrm>
            <a:off x="5368171" y="5132546"/>
            <a:ext cx="3893939" cy="1610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Integración con sistemas ERP u otros</a:t>
            </a:r>
            <a:endParaRPr lang="en-US" sz="175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Despliegue en producción real</a:t>
            </a:r>
            <a:endParaRPr lang="en-US" sz="175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Personalización de modelos base</a:t>
            </a:r>
            <a:endParaRPr lang="en-US" sz="1750"/>
          </a:p>
        </p:txBody>
      </p:sp>
      <p:sp>
        <p:nvSpPr>
          <p:cNvPr id="34" name="Shape 13">
            <a:extLst>
              <a:ext uri="{FF2B5EF4-FFF2-40B4-BE49-F238E27FC236}">
                <a16:creationId xmlns:a16="http://schemas.microsoft.com/office/drawing/2014/main" id="{26E2B864-6268-70DF-C8E9-C13C83B8BDF5}"/>
              </a:ext>
            </a:extLst>
          </p:cNvPr>
          <p:cNvSpPr/>
          <p:nvPr/>
        </p:nvSpPr>
        <p:spPr>
          <a:xfrm>
            <a:off x="9488924" y="4407694"/>
            <a:ext cx="4347567" cy="2561868"/>
          </a:xfrm>
          <a:prstGeom prst="rect">
            <a:avLst/>
          </a:prstGeom>
          <a:solidFill>
            <a:srgbClr val="484B51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6" name="Shape 14">
            <a:extLst>
              <a:ext uri="{FF2B5EF4-FFF2-40B4-BE49-F238E27FC236}">
                <a16:creationId xmlns:a16="http://schemas.microsoft.com/office/drawing/2014/main" id="{3106FF30-7174-C25F-968B-817323EF9FA4}"/>
              </a:ext>
            </a:extLst>
          </p:cNvPr>
          <p:cNvSpPr/>
          <p:nvPr/>
        </p:nvSpPr>
        <p:spPr>
          <a:xfrm>
            <a:off x="9488924" y="4407694"/>
            <a:ext cx="30480" cy="2561868"/>
          </a:xfrm>
          <a:prstGeom prst="roundRect">
            <a:avLst>
              <a:gd name="adj" fmla="val 111628"/>
            </a:avLst>
          </a:prstGeom>
          <a:solidFill>
            <a:srgbClr val="61646A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8" name="Text 15">
            <a:extLst>
              <a:ext uri="{FF2B5EF4-FFF2-40B4-BE49-F238E27FC236}">
                <a16:creationId xmlns:a16="http://schemas.microsoft.com/office/drawing/2014/main" id="{98E4B04B-3550-1C7B-C69F-80A42CEA3541}"/>
              </a:ext>
            </a:extLst>
          </p:cNvPr>
          <p:cNvSpPr/>
          <p:nvPr/>
        </p:nvSpPr>
        <p:spPr>
          <a:xfrm>
            <a:off x="9715738" y="4634508"/>
            <a:ext cx="283523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>
                <a:solidFill>
                  <a:srgbClr val="000000"/>
                </a:solidFill>
                <a:latin typeface="IBM Plex Sans Medium"/>
                <a:ea typeface="IBM Plex Sans Medium" pitchFamily="34" charset="-122"/>
                <a:cs typeface="IBM Plex Sans Medium" pitchFamily="34" charset="-120"/>
              </a:rPr>
              <a:t> </a:t>
            </a:r>
            <a:r>
              <a:rPr lang="en-US" sz="2200" err="1">
                <a:solidFill>
                  <a:srgbClr val="D4D4D1"/>
                </a:solidFill>
                <a:latin typeface="IBM Plex Sans Medium"/>
                <a:ea typeface="IBM Plex Sans Medium" pitchFamily="34" charset="-122"/>
                <a:cs typeface="IBM Plex Sans Medium" pitchFamily="34" charset="-120"/>
              </a:rPr>
              <a:t>Limitaciones</a:t>
            </a:r>
            <a:endParaRPr lang="en-US" sz="2200" err="1">
              <a:latin typeface="IBM Plex Sans Medium"/>
            </a:endParaRPr>
          </a:p>
        </p:txBody>
      </p:sp>
      <p:sp>
        <p:nvSpPr>
          <p:cNvPr id="40" name="Text 16">
            <a:extLst>
              <a:ext uri="{FF2B5EF4-FFF2-40B4-BE49-F238E27FC236}">
                <a16:creationId xmlns:a16="http://schemas.microsoft.com/office/drawing/2014/main" id="{14B9AD1F-8A3A-3778-26B5-2D8625E8D95E}"/>
              </a:ext>
            </a:extLst>
          </p:cNvPr>
          <p:cNvSpPr/>
          <p:nvPr/>
        </p:nvSpPr>
        <p:spPr>
          <a:xfrm>
            <a:off x="9715738" y="5132546"/>
            <a:ext cx="3893939" cy="1610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Uso de modelos pre-entrenados</a:t>
            </a:r>
            <a:endParaRPr lang="en-US" sz="175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Restricciones de acceso a datos</a:t>
            </a:r>
            <a:endParaRPr lang="en-US" sz="175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Condicionantes técnicas del entorno</a:t>
            </a:r>
            <a:endParaRPr lang="en-US" sz="1750"/>
          </a:p>
        </p:txBody>
      </p:sp>
    </p:spTree>
    <p:extLst>
      <p:ext uri="{BB962C8B-B14F-4D97-AF65-F5344CB8AC3E}">
        <p14:creationId xmlns:p14="http://schemas.microsoft.com/office/powerpoint/2010/main" val="115097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0">
            <a:extLst>
              <a:ext uri="{FF2B5EF4-FFF2-40B4-BE49-F238E27FC236}">
                <a16:creationId xmlns:a16="http://schemas.microsoft.com/office/drawing/2014/main" id="{6E45CF03-DC13-5469-40E3-A12D91D732CB}"/>
              </a:ext>
            </a:extLst>
          </p:cNvPr>
          <p:cNvSpPr/>
          <p:nvPr/>
        </p:nvSpPr>
        <p:spPr>
          <a:xfrm>
            <a:off x="1255157" y="483037"/>
            <a:ext cx="880467" cy="304681"/>
          </a:xfrm>
          <a:prstGeom prst="roundRect">
            <a:avLst>
              <a:gd name="adj" fmla="val 6918"/>
            </a:avLst>
          </a:prstGeom>
          <a:solidFill>
            <a:srgbClr val="CC000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1CAC875E-2E4B-EB13-3304-B56C5CD5FF07}"/>
              </a:ext>
            </a:extLst>
          </p:cNvPr>
          <p:cNvSpPr/>
          <p:nvPr/>
        </p:nvSpPr>
        <p:spPr>
          <a:xfrm>
            <a:off x="1360527" y="535662"/>
            <a:ext cx="669727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SOLUCIÓN</a:t>
            </a:r>
            <a:endParaRPr lang="en-US" sz="110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155AE7B4-A462-15D3-19C3-1E0B7B38E5AA}"/>
              </a:ext>
            </a:extLst>
          </p:cNvPr>
          <p:cNvSpPr/>
          <p:nvPr/>
        </p:nvSpPr>
        <p:spPr>
          <a:xfrm>
            <a:off x="1255157" y="842010"/>
            <a:ext cx="6857881" cy="548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Análisis y Selección de la Solución</a:t>
            </a:r>
            <a:endParaRPr lang="en-US" sz="345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444798E2-3606-157E-6A0F-7E49002BA2A8}"/>
              </a:ext>
            </a:extLst>
          </p:cNvPr>
          <p:cNvSpPr/>
          <p:nvPr/>
        </p:nvSpPr>
        <p:spPr>
          <a:xfrm>
            <a:off x="1255157" y="3302913"/>
            <a:ext cx="2297787" cy="2744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Alternativas Evaluadas</a:t>
            </a:r>
            <a:endParaRPr lang="en-US" sz="170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6F1AF356-4AF8-5990-7261-28A9308BE4C9}"/>
              </a:ext>
            </a:extLst>
          </p:cNvPr>
          <p:cNvSpPr/>
          <p:nvPr/>
        </p:nvSpPr>
        <p:spPr>
          <a:xfrm>
            <a:off x="1255157" y="3713321"/>
            <a:ext cx="5845850" cy="498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 presentan al menos </a:t>
            </a:r>
            <a:r>
              <a:rPr lang="en-US" sz="1350" b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 opciones técnicas de IA</a:t>
            </a:r>
            <a:r>
              <a:rPr lang="en-US" sz="135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con sus características, ventajas y limitaciones comparadas.</a:t>
            </a:r>
            <a:endParaRPr lang="en-US" sz="1350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C9906026-E58C-95A2-2F96-16F77D7C7AC5}"/>
              </a:ext>
            </a:extLst>
          </p:cNvPr>
          <p:cNvSpPr/>
          <p:nvPr/>
        </p:nvSpPr>
        <p:spPr>
          <a:xfrm>
            <a:off x="1255157" y="4347686"/>
            <a:ext cx="2195632" cy="2744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Criterios de Selección</a:t>
            </a:r>
            <a:endParaRPr lang="en-US" sz="1700"/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7D4B251E-A634-E5F1-55FF-96F416335D15}"/>
              </a:ext>
            </a:extLst>
          </p:cNvPr>
          <p:cNvSpPr/>
          <p:nvPr/>
        </p:nvSpPr>
        <p:spPr>
          <a:xfrm>
            <a:off x="1255157" y="4758095"/>
            <a:ext cx="5845850" cy="498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Justificación basada en estándares como </a:t>
            </a:r>
            <a:r>
              <a:rPr lang="en-US" sz="1350" b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ISO 25010</a:t>
            </a:r>
            <a:r>
              <a:rPr lang="en-US" sz="135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funcionalidad, rendimiento, seguridad, mantenibilidad.</a:t>
            </a:r>
            <a:endParaRPr lang="en-US" sz="1350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07CDEB06-1C86-958B-CD36-0BB032AE4472}"/>
              </a:ext>
            </a:extLst>
          </p:cNvPr>
          <p:cNvSpPr/>
          <p:nvPr/>
        </p:nvSpPr>
        <p:spPr>
          <a:xfrm>
            <a:off x="1255157" y="5392460"/>
            <a:ext cx="2419112" cy="2744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Propuesta Seleccionada</a:t>
            </a:r>
            <a:endParaRPr lang="en-US" sz="1700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0620660F-BE3E-A818-F2EA-92C27BA838A6}"/>
              </a:ext>
            </a:extLst>
          </p:cNvPr>
          <p:cNvSpPr/>
          <p:nvPr/>
        </p:nvSpPr>
        <p:spPr>
          <a:xfrm>
            <a:off x="1255157" y="5802868"/>
            <a:ext cx="5845850" cy="249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Resumen ejecutivo de la solución elegida y su justificación técnica.</a:t>
            </a:r>
            <a:endParaRPr lang="en-US" sz="1350"/>
          </a:p>
        </p:txBody>
      </p:sp>
      <p:pic>
        <p:nvPicPr>
          <p:cNvPr id="24" name="Image 0" descr="preencoded.png">
            <a:extLst>
              <a:ext uri="{FF2B5EF4-FFF2-40B4-BE49-F238E27FC236}">
                <a16:creationId xmlns:a16="http://schemas.microsoft.com/office/drawing/2014/main" id="{9FB723D4-5A07-2481-14FF-687FFAB522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7013" y="1747838"/>
            <a:ext cx="5845850" cy="5845850"/>
          </a:xfrm>
          <a:prstGeom prst="rect">
            <a:avLst/>
          </a:prstGeom>
        </p:spPr>
      </p:pic>
      <p:pic>
        <p:nvPicPr>
          <p:cNvPr id="26" name="Image 1" descr="preencoded.png">
            <a:extLst>
              <a:ext uri="{FF2B5EF4-FFF2-40B4-BE49-F238E27FC236}">
                <a16:creationId xmlns:a16="http://schemas.microsoft.com/office/drawing/2014/main" id="{F44B7708-666D-B50B-784C-1F9C04F87D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9413" y="1900238"/>
            <a:ext cx="5845850" cy="584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2152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0">
            <a:extLst>
              <a:ext uri="{FF2B5EF4-FFF2-40B4-BE49-F238E27FC236}">
                <a16:creationId xmlns:a16="http://schemas.microsoft.com/office/drawing/2014/main" id="{F0BC28D4-6768-B7AB-E2F7-84CED5598B81}"/>
              </a:ext>
            </a:extLst>
          </p:cNvPr>
          <p:cNvSpPr/>
          <p:nvPr/>
        </p:nvSpPr>
        <p:spPr>
          <a:xfrm>
            <a:off x="1718667" y="478631"/>
            <a:ext cx="1125379" cy="275153"/>
          </a:xfrm>
          <a:prstGeom prst="roundRect">
            <a:avLst>
              <a:gd name="adj" fmla="val 7075"/>
            </a:avLst>
          </a:prstGeom>
          <a:solidFill>
            <a:srgbClr val="CC000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BF3D2631-606A-C8E2-7AF0-545F8875B4C9}"/>
              </a:ext>
            </a:extLst>
          </p:cNvPr>
          <p:cNvSpPr/>
          <p:nvPr/>
        </p:nvSpPr>
        <p:spPr>
          <a:xfrm>
            <a:off x="1815941" y="527209"/>
            <a:ext cx="930831" cy="177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ARQUITECTURA</a:t>
            </a:r>
            <a:endParaRPr lang="en-US" sz="100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F284B138-6DDD-5202-F2A7-F86CCF3287CE}"/>
              </a:ext>
            </a:extLst>
          </p:cNvPr>
          <p:cNvSpPr/>
          <p:nvPr/>
        </p:nvSpPr>
        <p:spPr>
          <a:xfrm>
            <a:off x="1718667" y="800100"/>
            <a:ext cx="4838462" cy="506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Arquitectura del Prototipo</a:t>
            </a:r>
            <a:endParaRPr lang="en-US" sz="315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BE40BAB9-04E1-13B2-7CC4-7102AF2ABD71}"/>
              </a:ext>
            </a:extLst>
          </p:cNvPr>
          <p:cNvSpPr/>
          <p:nvPr/>
        </p:nvSpPr>
        <p:spPr>
          <a:xfrm>
            <a:off x="1718667" y="1353264"/>
            <a:ext cx="2127647" cy="253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[Nombre del Prototipo]</a:t>
            </a:r>
            <a:endParaRPr lang="en-US" sz="1550"/>
          </a:p>
        </p:txBody>
      </p:sp>
      <p:pic>
        <p:nvPicPr>
          <p:cNvPr id="14" name="Image 0" descr="preencoded.png">
            <a:extLst>
              <a:ext uri="{FF2B5EF4-FFF2-40B4-BE49-F238E27FC236}">
                <a16:creationId xmlns:a16="http://schemas.microsoft.com/office/drawing/2014/main" id="{B1BA936D-D90E-6C2D-9AC2-41B21C219E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2302" y="1780580"/>
            <a:ext cx="10185678" cy="5394960"/>
          </a:xfrm>
          <a:prstGeom prst="rect">
            <a:avLst/>
          </a:prstGeom>
        </p:spPr>
      </p:pic>
      <p:sp>
        <p:nvSpPr>
          <p:cNvPr id="16" name="Text 4">
            <a:extLst>
              <a:ext uri="{FF2B5EF4-FFF2-40B4-BE49-F238E27FC236}">
                <a16:creationId xmlns:a16="http://schemas.microsoft.com/office/drawing/2014/main" id="{0C1B0CAA-3E86-7272-5094-8CE83C26BC97}"/>
              </a:ext>
            </a:extLst>
          </p:cNvPr>
          <p:cNvSpPr/>
          <p:nvPr/>
        </p:nvSpPr>
        <p:spPr>
          <a:xfrm>
            <a:off x="3632556" y="5636345"/>
            <a:ext cx="2518393" cy="31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50"/>
              </a:lnSpc>
              <a:buNone/>
            </a:pPr>
            <a:r>
              <a:rPr lang="en-US" sz="195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Ingesta de datos</a:t>
            </a:r>
            <a:endParaRPr lang="en-US" sz="1950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C2048378-8D8A-7AD8-9320-9F7C3E5767E2}"/>
              </a:ext>
            </a:extLst>
          </p:cNvPr>
          <p:cNvSpPr/>
          <p:nvPr/>
        </p:nvSpPr>
        <p:spPr>
          <a:xfrm>
            <a:off x="3453471" y="6040687"/>
            <a:ext cx="2697479" cy="431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700"/>
              </a:lnSpc>
              <a:buNone/>
            </a:pPr>
            <a:r>
              <a:rPr lang="en-US" sz="155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Fuentes y conectores variados.</a:t>
            </a:r>
            <a:endParaRPr lang="en-US" sz="1550"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AD059380-41F6-35E8-7213-F2858E203E18}"/>
              </a:ext>
            </a:extLst>
          </p:cNvPr>
          <p:cNvSpPr/>
          <p:nvPr/>
        </p:nvSpPr>
        <p:spPr>
          <a:xfrm>
            <a:off x="2647585" y="2483456"/>
            <a:ext cx="2518393" cy="31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50"/>
              </a:lnSpc>
              <a:buNone/>
            </a:pPr>
            <a:r>
              <a:rPr lang="en-US" sz="195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Preprocesamiento</a:t>
            </a:r>
            <a:endParaRPr lang="en-US" sz="1950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1C827DF7-9A83-3B69-D5CE-DC595AA9304B}"/>
              </a:ext>
            </a:extLst>
          </p:cNvPr>
          <p:cNvSpPr/>
          <p:nvPr/>
        </p:nvSpPr>
        <p:spPr>
          <a:xfrm>
            <a:off x="2468499" y="2887798"/>
            <a:ext cx="2697479" cy="431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700"/>
              </a:lnSpc>
              <a:buNone/>
            </a:pPr>
            <a:r>
              <a:rPr lang="en-US" sz="155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Limpieza y transformación de datos.</a:t>
            </a:r>
            <a:endParaRPr lang="en-US" sz="1550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D256C941-B04E-8670-33DD-7EE010FB27E0}"/>
              </a:ext>
            </a:extLst>
          </p:cNvPr>
          <p:cNvSpPr/>
          <p:nvPr/>
        </p:nvSpPr>
        <p:spPr>
          <a:xfrm>
            <a:off x="8512643" y="2483456"/>
            <a:ext cx="2518393" cy="31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Modelado con IA</a:t>
            </a:r>
            <a:endParaRPr lang="en-US" sz="1950"/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F542D171-A764-687C-9D81-CDE927AC75ED}"/>
              </a:ext>
            </a:extLst>
          </p:cNvPr>
          <p:cNvSpPr/>
          <p:nvPr/>
        </p:nvSpPr>
        <p:spPr>
          <a:xfrm>
            <a:off x="8512643" y="2887798"/>
            <a:ext cx="2697479" cy="431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55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Aplicación de algoritmo o modelo.</a:t>
            </a:r>
            <a:endParaRPr lang="en-US" sz="1550"/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D6CB0D7A-B062-F097-963F-A7D2BD896DF0}"/>
              </a:ext>
            </a:extLst>
          </p:cNvPr>
          <p:cNvSpPr/>
          <p:nvPr/>
        </p:nvSpPr>
        <p:spPr>
          <a:xfrm>
            <a:off x="9464036" y="5636520"/>
            <a:ext cx="2518393" cy="31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Despliegue</a:t>
            </a:r>
            <a:endParaRPr lang="en-US" sz="1950"/>
          </a:p>
        </p:txBody>
      </p:sp>
      <p:sp>
        <p:nvSpPr>
          <p:cNvPr id="30" name="Text 11">
            <a:extLst>
              <a:ext uri="{FF2B5EF4-FFF2-40B4-BE49-F238E27FC236}">
                <a16:creationId xmlns:a16="http://schemas.microsoft.com/office/drawing/2014/main" id="{DEC1E852-046B-8EEA-8575-CF9BE550B7A8}"/>
              </a:ext>
            </a:extLst>
          </p:cNvPr>
          <p:cNvSpPr/>
          <p:nvPr/>
        </p:nvSpPr>
        <p:spPr>
          <a:xfrm>
            <a:off x="9464036" y="6040862"/>
            <a:ext cx="2697478" cy="431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55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Low-code y visualización de resultados.</a:t>
            </a:r>
            <a:endParaRPr lang="en-US" sz="1550"/>
          </a:p>
        </p:txBody>
      </p:sp>
      <p:sp>
        <p:nvSpPr>
          <p:cNvPr id="32" name="Text 12">
            <a:extLst>
              <a:ext uri="{FF2B5EF4-FFF2-40B4-BE49-F238E27FC236}">
                <a16:creationId xmlns:a16="http://schemas.microsoft.com/office/drawing/2014/main" id="{0BDE05B6-3246-A99C-FFBC-ECF478F720B8}"/>
              </a:ext>
            </a:extLst>
          </p:cNvPr>
          <p:cNvSpPr/>
          <p:nvPr/>
        </p:nvSpPr>
        <p:spPr>
          <a:xfrm>
            <a:off x="1718667" y="7306032"/>
            <a:ext cx="11193066" cy="444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prototipo sigue un flujo estructurado desde la captura de datos hasta la entrega de resultados, priorizando herramientas accesibles y de rápida implementación acordes al perfil de la maestría.</a:t>
            </a:r>
            <a:endParaRPr lang="en-US" sz="1250"/>
          </a:p>
        </p:txBody>
      </p:sp>
    </p:spTree>
    <p:extLst>
      <p:ext uri="{BB962C8B-B14F-4D97-AF65-F5344CB8AC3E}">
        <p14:creationId xmlns:p14="http://schemas.microsoft.com/office/powerpoint/2010/main" val="6162502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0">
            <a:extLst>
              <a:ext uri="{FF2B5EF4-FFF2-40B4-BE49-F238E27FC236}">
                <a16:creationId xmlns:a16="http://schemas.microsoft.com/office/drawing/2014/main" id="{16BCFC7A-449D-13AF-F42B-9E70B28CF3FA}"/>
              </a:ext>
            </a:extLst>
          </p:cNvPr>
          <p:cNvSpPr/>
          <p:nvPr/>
        </p:nvSpPr>
        <p:spPr>
          <a:xfrm>
            <a:off x="793790" y="2360771"/>
            <a:ext cx="1993106" cy="426244"/>
          </a:xfrm>
          <a:prstGeom prst="roundRect">
            <a:avLst>
              <a:gd name="adj" fmla="val 6386"/>
            </a:avLst>
          </a:prstGeom>
          <a:solidFill>
            <a:srgbClr val="CC000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BA432AA1-4214-2ECC-C13A-D88710656FB5}"/>
              </a:ext>
            </a:extLst>
          </p:cNvPr>
          <p:cNvSpPr/>
          <p:nvPr/>
        </p:nvSpPr>
        <p:spPr>
          <a:xfrm>
            <a:off x="929878" y="2428756"/>
            <a:ext cx="1720929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ÉTICA Y PRIVACIDAD</a:t>
            </a:r>
            <a:endParaRPr lang="en-US" sz="140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375CA417-237B-7756-C3B5-3049BF5EE388}"/>
              </a:ext>
            </a:extLst>
          </p:cNvPr>
          <p:cNvSpPr/>
          <p:nvPr/>
        </p:nvSpPr>
        <p:spPr>
          <a:xfrm>
            <a:off x="793790" y="2877741"/>
            <a:ext cx="1138892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Ética, Privacidad y Cumplimiento Normativo</a:t>
            </a:r>
            <a:endParaRPr lang="en-US" sz="4450"/>
          </a:p>
        </p:txBody>
      </p:sp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B9168499-265B-6728-748E-C73698F330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3926681"/>
            <a:ext cx="566976" cy="566976"/>
          </a:xfrm>
          <a:prstGeom prst="rect">
            <a:avLst/>
          </a:prstGeom>
        </p:spPr>
      </p:pic>
      <p:sp>
        <p:nvSpPr>
          <p:cNvPr id="14" name="Text 3">
            <a:extLst>
              <a:ext uri="{FF2B5EF4-FFF2-40B4-BE49-F238E27FC236}">
                <a16:creationId xmlns:a16="http://schemas.microsoft.com/office/drawing/2014/main" id="{C25EE709-DE06-786C-A9B2-A8C8689713DB}"/>
              </a:ext>
            </a:extLst>
          </p:cNvPr>
          <p:cNvSpPr/>
          <p:nvPr/>
        </p:nvSpPr>
        <p:spPr>
          <a:xfrm>
            <a:off x="1644253" y="39266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Tratamiento de Datos</a:t>
            </a:r>
            <a:endParaRPr lang="en-US" sz="2200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88FEB650-066D-2A78-286F-B7F6C0C852AA}"/>
              </a:ext>
            </a:extLst>
          </p:cNvPr>
          <p:cNvSpPr/>
          <p:nvPr/>
        </p:nvSpPr>
        <p:spPr>
          <a:xfrm>
            <a:off x="1644253" y="4417100"/>
            <a:ext cx="330815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Técnicas de anonimización y seudonimización aplicadas para proteger información sensible de usuarios y la organización.</a:t>
            </a:r>
            <a:endParaRPr lang="en-US" sz="1750"/>
          </a:p>
        </p:txBody>
      </p:sp>
      <p:pic>
        <p:nvPicPr>
          <p:cNvPr id="18" name="Image 1" descr="preencoded.png">
            <a:extLst>
              <a:ext uri="{FF2B5EF4-FFF2-40B4-BE49-F238E27FC236}">
                <a16:creationId xmlns:a16="http://schemas.microsoft.com/office/drawing/2014/main" id="{1CDCEB86-C8A5-3707-5688-4132D57F95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5893" y="3926681"/>
            <a:ext cx="566976" cy="566976"/>
          </a:xfrm>
          <a:prstGeom prst="rect">
            <a:avLst/>
          </a:prstGeom>
        </p:spPr>
      </p:pic>
      <p:sp>
        <p:nvSpPr>
          <p:cNvPr id="20" name="Text 5">
            <a:extLst>
              <a:ext uri="{FF2B5EF4-FFF2-40B4-BE49-F238E27FC236}">
                <a16:creationId xmlns:a16="http://schemas.microsoft.com/office/drawing/2014/main" id="{01936929-6B70-1A59-B7D2-C34533EBB9FD}"/>
              </a:ext>
            </a:extLst>
          </p:cNvPr>
          <p:cNvSpPr/>
          <p:nvPr/>
        </p:nvSpPr>
        <p:spPr>
          <a:xfrm>
            <a:off x="6086356" y="39266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Implicaciones Éticas</a:t>
            </a:r>
            <a:endParaRPr lang="en-US" sz="2200"/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47BB1A29-6960-4B5A-A7A6-54B6AF9D2554}"/>
              </a:ext>
            </a:extLst>
          </p:cNvPr>
          <p:cNvSpPr/>
          <p:nvPr/>
        </p:nvSpPr>
        <p:spPr>
          <a:xfrm>
            <a:off x="6086356" y="4417100"/>
            <a:ext cx="330815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Gestión de sesgos del modelo, explicabilidad de decisiones automatizadas y transparencia hacia los usuarios finales.</a:t>
            </a:r>
            <a:endParaRPr lang="en-US" sz="1750"/>
          </a:p>
        </p:txBody>
      </p:sp>
      <p:pic>
        <p:nvPicPr>
          <p:cNvPr id="24" name="Image 2" descr="preencoded.png">
            <a:extLst>
              <a:ext uri="{FF2B5EF4-FFF2-40B4-BE49-F238E27FC236}">
                <a16:creationId xmlns:a16="http://schemas.microsoft.com/office/drawing/2014/main" id="{D5E8507E-0C9B-BC52-02B1-38BCFECB94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77995" y="3926681"/>
            <a:ext cx="566976" cy="566976"/>
          </a:xfrm>
          <a:prstGeom prst="rect">
            <a:avLst/>
          </a:prstGeom>
        </p:spPr>
      </p:pic>
      <p:sp>
        <p:nvSpPr>
          <p:cNvPr id="26" name="Text 7">
            <a:extLst>
              <a:ext uri="{FF2B5EF4-FFF2-40B4-BE49-F238E27FC236}">
                <a16:creationId xmlns:a16="http://schemas.microsoft.com/office/drawing/2014/main" id="{2DF3161A-B195-4810-6802-954F09B039A6}"/>
              </a:ext>
            </a:extLst>
          </p:cNvPr>
          <p:cNvSpPr/>
          <p:nvPr/>
        </p:nvSpPr>
        <p:spPr>
          <a:xfrm>
            <a:off x="10528459" y="3926681"/>
            <a:ext cx="324802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Cumplimiento Normativo</a:t>
            </a:r>
            <a:endParaRPr lang="en-US" sz="2200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BAF1AF06-B97D-9794-48C4-EC1295174F0C}"/>
              </a:ext>
            </a:extLst>
          </p:cNvPr>
          <p:cNvSpPr/>
          <p:nvPr/>
        </p:nvSpPr>
        <p:spPr>
          <a:xfrm>
            <a:off x="10528459" y="4417100"/>
            <a:ext cx="330815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Alineación con políticas institucionales de privacidad de datos y normativas locales e internacionales aplicables.</a:t>
            </a:r>
            <a:endParaRPr lang="en-US" sz="1750"/>
          </a:p>
        </p:txBody>
      </p:sp>
    </p:spTree>
    <p:extLst>
      <p:ext uri="{BB962C8B-B14F-4D97-AF65-F5344CB8AC3E}">
        <p14:creationId xmlns:p14="http://schemas.microsoft.com/office/powerpoint/2010/main" val="2272879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0">
            <a:extLst>
              <a:ext uri="{FF2B5EF4-FFF2-40B4-BE49-F238E27FC236}">
                <a16:creationId xmlns:a16="http://schemas.microsoft.com/office/drawing/2014/main" id="{8600AB0B-A154-D87E-51CF-061DECA5363D}"/>
              </a:ext>
            </a:extLst>
          </p:cNvPr>
          <p:cNvSpPr/>
          <p:nvPr/>
        </p:nvSpPr>
        <p:spPr>
          <a:xfrm>
            <a:off x="724733" y="742236"/>
            <a:ext cx="1451372" cy="377428"/>
          </a:xfrm>
          <a:prstGeom prst="roundRect">
            <a:avLst>
              <a:gd name="adj" fmla="val 6584"/>
            </a:avLst>
          </a:prstGeom>
          <a:solidFill>
            <a:srgbClr val="CC000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940284EB-22BC-66C3-F7A9-5320379D80E3}"/>
              </a:ext>
            </a:extLst>
          </p:cNvPr>
          <p:cNvSpPr/>
          <p:nvPr/>
        </p:nvSpPr>
        <p:spPr>
          <a:xfrm>
            <a:off x="848916" y="804267"/>
            <a:ext cx="1203008" cy="253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PLANIFICACIÓN</a:t>
            </a:r>
            <a:endParaRPr lang="en-US" sz="130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FC96483D-D592-C180-DB57-4B0C3B02F1CB}"/>
              </a:ext>
            </a:extLst>
          </p:cNvPr>
          <p:cNvSpPr/>
          <p:nvPr/>
        </p:nvSpPr>
        <p:spPr>
          <a:xfrm>
            <a:off x="724733" y="1195268"/>
            <a:ext cx="8478798" cy="647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Planificación y Estructura de Costos</a:t>
            </a:r>
            <a:endParaRPr lang="en-US" sz="4050"/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025B2DBD-FA56-C0EF-222E-F7D904771512}"/>
              </a:ext>
            </a:extLst>
          </p:cNvPr>
          <p:cNvSpPr/>
          <p:nvPr/>
        </p:nvSpPr>
        <p:spPr>
          <a:xfrm>
            <a:off x="575667" y="2125861"/>
            <a:ext cx="6636068" cy="5361384"/>
          </a:xfrm>
          <a:prstGeom prst="roundRect">
            <a:avLst>
              <a:gd name="adj" fmla="val 579"/>
            </a:avLst>
          </a:prstGeom>
          <a:solidFill>
            <a:srgbClr val="FF9797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F41F0C67-C1EF-D612-E11B-21A20ABB0597}"/>
              </a:ext>
            </a:extLst>
          </p:cNvPr>
          <p:cNvSpPr/>
          <p:nvPr/>
        </p:nvSpPr>
        <p:spPr>
          <a:xfrm>
            <a:off x="782717" y="2314813"/>
            <a:ext cx="2588419" cy="323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Marco de Gestión</a:t>
            </a:r>
            <a:endParaRPr lang="en-US" sz="2000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8EFB988D-287C-9E45-FA0E-08C7C98CCD91}"/>
              </a:ext>
            </a:extLst>
          </p:cNvPr>
          <p:cNvSpPr/>
          <p:nvPr/>
        </p:nvSpPr>
        <p:spPr>
          <a:xfrm>
            <a:off x="782717" y="2827258"/>
            <a:ext cx="6221968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Metodología ágil aplicada al proyecto: </a:t>
            </a:r>
            <a:r>
              <a:rPr lang="en-US" sz="1600" b="1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Scrum / Kanban</a:t>
            </a:r>
            <a:endParaRPr lang="en-US" sz="1600"/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3FB819ED-8D7E-26F3-FC4A-CD302F9A30BD}"/>
              </a:ext>
            </a:extLst>
          </p:cNvPr>
          <p:cNvSpPr/>
          <p:nvPr/>
        </p:nvSpPr>
        <p:spPr>
          <a:xfrm>
            <a:off x="782717" y="3314224"/>
            <a:ext cx="6221968" cy="1082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60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Sprints de 2 semanas</a:t>
            </a:r>
            <a:endParaRPr lang="en-US" sz="1600"/>
          </a:p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60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Revisiones periódicas con el tutor</a:t>
            </a:r>
            <a:endParaRPr lang="en-US" sz="1600"/>
          </a:p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60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Entregables incrementales validados</a:t>
            </a:r>
            <a:endParaRPr lang="en-US" sz="1600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F3743CB9-6D6B-BF0B-A917-1F797CACBC1D}"/>
              </a:ext>
            </a:extLst>
          </p:cNvPr>
          <p:cNvSpPr/>
          <p:nvPr/>
        </p:nvSpPr>
        <p:spPr>
          <a:xfrm>
            <a:off x="7575352" y="2314813"/>
            <a:ext cx="3163253" cy="323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Tabla de Costos Estimados</a:t>
            </a:r>
            <a:endParaRPr lang="en-US" sz="2000"/>
          </a:p>
        </p:txBody>
      </p:sp>
      <p:sp>
        <p:nvSpPr>
          <p:cNvPr id="22" name="Shape 8">
            <a:extLst>
              <a:ext uri="{FF2B5EF4-FFF2-40B4-BE49-F238E27FC236}">
                <a16:creationId xmlns:a16="http://schemas.microsoft.com/office/drawing/2014/main" id="{DE25BBEB-6598-3786-793A-20DAEE8A3FA5}"/>
              </a:ext>
            </a:extLst>
          </p:cNvPr>
          <p:cNvSpPr/>
          <p:nvPr/>
        </p:nvSpPr>
        <p:spPr>
          <a:xfrm>
            <a:off x="7575352" y="2850952"/>
            <a:ext cx="6337935" cy="4423648"/>
          </a:xfrm>
          <a:prstGeom prst="roundRect">
            <a:avLst>
              <a:gd name="adj" fmla="val 702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274EC817-CC80-4CC2-7B18-C18383DF7D15}"/>
              </a:ext>
            </a:extLst>
          </p:cNvPr>
          <p:cNvSpPr/>
          <p:nvPr/>
        </p:nvSpPr>
        <p:spPr>
          <a:xfrm>
            <a:off x="7790140" y="2979539"/>
            <a:ext cx="1478875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b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Categoría</a:t>
            </a:r>
            <a:endParaRPr lang="en-US" sz="1600"/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7C892BF8-9EBF-851B-03EC-509B2B5A9F14}"/>
              </a:ext>
            </a:extLst>
          </p:cNvPr>
          <p:cNvSpPr/>
          <p:nvPr/>
        </p:nvSpPr>
        <p:spPr>
          <a:xfrm>
            <a:off x="9690735" y="2979539"/>
            <a:ext cx="2423398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b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Descripción</a:t>
            </a:r>
            <a:endParaRPr lang="en-US" sz="1600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720F07D8-55B2-4213-E812-7339CC9DA903}"/>
              </a:ext>
            </a:extLst>
          </p:cNvPr>
          <p:cNvSpPr/>
          <p:nvPr/>
        </p:nvSpPr>
        <p:spPr>
          <a:xfrm>
            <a:off x="12535853" y="2979539"/>
            <a:ext cx="1162764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b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Inversión</a:t>
            </a:r>
            <a:endParaRPr lang="en-US" sz="1600"/>
          </a:p>
        </p:txBody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46F3DBC3-3461-5604-2C9B-E1800266581A}"/>
              </a:ext>
            </a:extLst>
          </p:cNvPr>
          <p:cNvSpPr/>
          <p:nvPr/>
        </p:nvSpPr>
        <p:spPr>
          <a:xfrm>
            <a:off x="7790140" y="3545919"/>
            <a:ext cx="1478875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Infraestructura</a:t>
            </a:r>
            <a:endParaRPr lang="en-US" sz="1600"/>
          </a:p>
        </p:txBody>
      </p:sp>
      <p:sp>
        <p:nvSpPr>
          <p:cNvPr id="32" name="Text 13">
            <a:extLst>
              <a:ext uri="{FF2B5EF4-FFF2-40B4-BE49-F238E27FC236}">
                <a16:creationId xmlns:a16="http://schemas.microsoft.com/office/drawing/2014/main" id="{333BE04D-DF66-6C28-9758-DA1AB027B365}"/>
              </a:ext>
            </a:extLst>
          </p:cNvPr>
          <p:cNvSpPr/>
          <p:nvPr/>
        </p:nvSpPr>
        <p:spPr>
          <a:xfrm>
            <a:off x="9690735" y="3545919"/>
            <a:ext cx="2423398" cy="633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Servicios cloud (AWS / Azure) y uso de APIs</a:t>
            </a:r>
            <a:endParaRPr lang="en-US" sz="1600"/>
          </a:p>
        </p:txBody>
      </p:sp>
      <p:sp>
        <p:nvSpPr>
          <p:cNvPr id="34" name="Text 14">
            <a:extLst>
              <a:ext uri="{FF2B5EF4-FFF2-40B4-BE49-F238E27FC236}">
                <a16:creationId xmlns:a16="http://schemas.microsoft.com/office/drawing/2014/main" id="{4278E0B6-307D-A191-3C82-87E69049D048}"/>
              </a:ext>
            </a:extLst>
          </p:cNvPr>
          <p:cNvSpPr/>
          <p:nvPr/>
        </p:nvSpPr>
        <p:spPr>
          <a:xfrm>
            <a:off x="12535853" y="3545919"/>
            <a:ext cx="1162764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$XXX</a:t>
            </a:r>
            <a:endParaRPr lang="en-US" sz="1600"/>
          </a:p>
        </p:txBody>
      </p:sp>
      <p:sp>
        <p:nvSpPr>
          <p:cNvPr id="36" name="Text 15">
            <a:extLst>
              <a:ext uri="{FF2B5EF4-FFF2-40B4-BE49-F238E27FC236}">
                <a16:creationId xmlns:a16="http://schemas.microsoft.com/office/drawing/2014/main" id="{70AF759F-1B99-22EB-2344-61646075C3A5}"/>
              </a:ext>
            </a:extLst>
          </p:cNvPr>
          <p:cNvSpPr/>
          <p:nvPr/>
        </p:nvSpPr>
        <p:spPr>
          <a:xfrm>
            <a:off x="7790140" y="4429125"/>
            <a:ext cx="1478875" cy="633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Talento Humano</a:t>
            </a:r>
            <a:endParaRPr lang="en-US" sz="1600"/>
          </a:p>
        </p:txBody>
      </p:sp>
      <p:sp>
        <p:nvSpPr>
          <p:cNvPr id="38" name="Text 16">
            <a:extLst>
              <a:ext uri="{FF2B5EF4-FFF2-40B4-BE49-F238E27FC236}">
                <a16:creationId xmlns:a16="http://schemas.microsoft.com/office/drawing/2014/main" id="{3BD6B517-9BCF-C076-F836-22CC071BBCB7}"/>
              </a:ext>
            </a:extLst>
          </p:cNvPr>
          <p:cNvSpPr/>
          <p:nvPr/>
        </p:nvSpPr>
        <p:spPr>
          <a:xfrm>
            <a:off x="9690735" y="4429125"/>
            <a:ext cx="2423398" cy="950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Horas hombre de desarrollo y gestión del proyecto</a:t>
            </a:r>
            <a:endParaRPr lang="en-US" sz="1600"/>
          </a:p>
        </p:txBody>
      </p:sp>
      <p:sp>
        <p:nvSpPr>
          <p:cNvPr id="40" name="Text 17">
            <a:extLst>
              <a:ext uri="{FF2B5EF4-FFF2-40B4-BE49-F238E27FC236}">
                <a16:creationId xmlns:a16="http://schemas.microsoft.com/office/drawing/2014/main" id="{041DA20B-7F12-856F-0AD7-77FFD3064F0C}"/>
              </a:ext>
            </a:extLst>
          </p:cNvPr>
          <p:cNvSpPr/>
          <p:nvPr/>
        </p:nvSpPr>
        <p:spPr>
          <a:xfrm>
            <a:off x="12535853" y="4429125"/>
            <a:ext cx="1162764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$XXX</a:t>
            </a:r>
            <a:endParaRPr lang="en-US" sz="1600"/>
          </a:p>
        </p:txBody>
      </p:sp>
      <p:sp>
        <p:nvSpPr>
          <p:cNvPr id="42" name="Text 18">
            <a:extLst>
              <a:ext uri="{FF2B5EF4-FFF2-40B4-BE49-F238E27FC236}">
                <a16:creationId xmlns:a16="http://schemas.microsoft.com/office/drawing/2014/main" id="{18935153-5E08-5DE3-0A5A-9137BC166086}"/>
              </a:ext>
            </a:extLst>
          </p:cNvPr>
          <p:cNvSpPr/>
          <p:nvPr/>
        </p:nvSpPr>
        <p:spPr>
          <a:xfrm>
            <a:off x="7790140" y="5629156"/>
            <a:ext cx="1478875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Herramientas</a:t>
            </a:r>
            <a:endParaRPr lang="en-US" sz="1600"/>
          </a:p>
        </p:txBody>
      </p:sp>
      <p:sp>
        <p:nvSpPr>
          <p:cNvPr id="44" name="Text 19">
            <a:extLst>
              <a:ext uri="{FF2B5EF4-FFF2-40B4-BE49-F238E27FC236}">
                <a16:creationId xmlns:a16="http://schemas.microsoft.com/office/drawing/2014/main" id="{D0ABCE9B-FFB8-E170-1D6D-DC43A1B5D846}"/>
              </a:ext>
            </a:extLst>
          </p:cNvPr>
          <p:cNvSpPr/>
          <p:nvPr/>
        </p:nvSpPr>
        <p:spPr>
          <a:xfrm>
            <a:off x="9690735" y="5629156"/>
            <a:ext cx="2423398" cy="950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Licencias de software y plataformas especializadas</a:t>
            </a:r>
            <a:endParaRPr lang="en-US" sz="1600"/>
          </a:p>
        </p:txBody>
      </p:sp>
      <p:sp>
        <p:nvSpPr>
          <p:cNvPr id="46" name="Text 20">
            <a:extLst>
              <a:ext uri="{FF2B5EF4-FFF2-40B4-BE49-F238E27FC236}">
                <a16:creationId xmlns:a16="http://schemas.microsoft.com/office/drawing/2014/main" id="{F7B0A6A3-370B-27A9-D484-5EA31936777E}"/>
              </a:ext>
            </a:extLst>
          </p:cNvPr>
          <p:cNvSpPr/>
          <p:nvPr/>
        </p:nvSpPr>
        <p:spPr>
          <a:xfrm>
            <a:off x="12535853" y="5629156"/>
            <a:ext cx="1162764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$XXX</a:t>
            </a:r>
            <a:endParaRPr lang="en-US" sz="1600"/>
          </a:p>
        </p:txBody>
      </p:sp>
      <p:sp>
        <p:nvSpPr>
          <p:cNvPr id="48" name="Text 21">
            <a:extLst>
              <a:ext uri="{FF2B5EF4-FFF2-40B4-BE49-F238E27FC236}">
                <a16:creationId xmlns:a16="http://schemas.microsoft.com/office/drawing/2014/main" id="{B0BD720D-2333-ED35-3B43-6F28CD4A1457}"/>
              </a:ext>
            </a:extLst>
          </p:cNvPr>
          <p:cNvSpPr/>
          <p:nvPr/>
        </p:nvSpPr>
        <p:spPr>
          <a:xfrm>
            <a:off x="7790140" y="6829187"/>
            <a:ext cx="1478875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b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Total</a:t>
            </a:r>
            <a:endParaRPr lang="en-US" sz="1600"/>
          </a:p>
        </p:txBody>
      </p:sp>
      <p:sp>
        <p:nvSpPr>
          <p:cNvPr id="50" name="Text 22">
            <a:extLst>
              <a:ext uri="{FF2B5EF4-FFF2-40B4-BE49-F238E27FC236}">
                <a16:creationId xmlns:a16="http://schemas.microsoft.com/office/drawing/2014/main" id="{D75A1783-C2DA-7A46-37AA-D929ABED5B65}"/>
              </a:ext>
            </a:extLst>
          </p:cNvPr>
          <p:cNvSpPr/>
          <p:nvPr/>
        </p:nvSpPr>
        <p:spPr>
          <a:xfrm>
            <a:off x="9690735" y="6829187"/>
            <a:ext cx="2423398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endParaRPr lang="en-US" sz="1600"/>
          </a:p>
        </p:txBody>
      </p:sp>
      <p:sp>
        <p:nvSpPr>
          <p:cNvPr id="52" name="Text 23">
            <a:extLst>
              <a:ext uri="{FF2B5EF4-FFF2-40B4-BE49-F238E27FC236}">
                <a16:creationId xmlns:a16="http://schemas.microsoft.com/office/drawing/2014/main" id="{4AD56030-73ED-84E2-D700-FEC0FCD581A1}"/>
              </a:ext>
            </a:extLst>
          </p:cNvPr>
          <p:cNvSpPr/>
          <p:nvPr/>
        </p:nvSpPr>
        <p:spPr>
          <a:xfrm>
            <a:off x="12535853" y="6829187"/>
            <a:ext cx="1162764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b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$XXX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7697346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0">
            <a:extLst>
              <a:ext uri="{FF2B5EF4-FFF2-40B4-BE49-F238E27FC236}">
                <a16:creationId xmlns:a16="http://schemas.microsoft.com/office/drawing/2014/main" id="{ACD1222C-A39A-B8AD-52FA-8A5CA0317442}"/>
              </a:ext>
            </a:extLst>
          </p:cNvPr>
          <p:cNvSpPr/>
          <p:nvPr/>
        </p:nvSpPr>
        <p:spPr>
          <a:xfrm>
            <a:off x="793790" y="1051203"/>
            <a:ext cx="1356479" cy="426244"/>
          </a:xfrm>
          <a:prstGeom prst="roundRect">
            <a:avLst>
              <a:gd name="adj" fmla="val 6386"/>
            </a:avLst>
          </a:prstGeom>
          <a:solidFill>
            <a:srgbClr val="CC000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2EAC8732-8A19-F0E0-6F61-8E0CD4CD6DEE}"/>
              </a:ext>
            </a:extLst>
          </p:cNvPr>
          <p:cNvSpPr/>
          <p:nvPr/>
        </p:nvSpPr>
        <p:spPr>
          <a:xfrm>
            <a:off x="929878" y="1119187"/>
            <a:ext cx="108430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RESULTADOS</a:t>
            </a:r>
            <a:endParaRPr lang="en-US" sz="140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315793E9-3699-53D3-9861-888A7ADFF136}"/>
              </a:ext>
            </a:extLst>
          </p:cNvPr>
          <p:cNvSpPr/>
          <p:nvPr/>
        </p:nvSpPr>
        <p:spPr>
          <a:xfrm>
            <a:off x="793790" y="1568172"/>
            <a:ext cx="964311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Resultados y Validación del Prototipo</a:t>
            </a:r>
            <a:endParaRPr lang="en-US" sz="445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D1607A96-D7DA-6305-671D-ADF099088501}"/>
              </a:ext>
            </a:extLst>
          </p:cNvPr>
          <p:cNvSpPr/>
          <p:nvPr/>
        </p:nvSpPr>
        <p:spPr>
          <a:xfrm>
            <a:off x="793790" y="261711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Presentación de los principales indicadores de desempeño obtenidos durante las pruebas del prototipo.</a:t>
            </a:r>
            <a:endParaRPr lang="en-US" sz="175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DA7834C1-4B66-79D4-D9FA-FD132C84A35C}"/>
              </a:ext>
            </a:extLst>
          </p:cNvPr>
          <p:cNvSpPr/>
          <p:nvPr/>
        </p:nvSpPr>
        <p:spPr>
          <a:xfrm>
            <a:off x="793790" y="3348514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XX%</a:t>
            </a:r>
            <a:endParaRPr lang="en-US" sz="5850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374BC8C6-46AD-0928-7CB2-17A50532B287}"/>
              </a:ext>
            </a:extLst>
          </p:cNvPr>
          <p:cNvSpPr/>
          <p:nvPr/>
        </p:nvSpPr>
        <p:spPr>
          <a:xfrm>
            <a:off x="1455420" y="43803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Precisión del Modelo</a:t>
            </a:r>
            <a:endParaRPr lang="en-US" sz="2200"/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8E3B1DC5-7FC3-F162-8652-96EA45195818}"/>
              </a:ext>
            </a:extLst>
          </p:cNvPr>
          <p:cNvSpPr/>
          <p:nvPr/>
        </p:nvSpPr>
        <p:spPr>
          <a:xfrm>
            <a:off x="793790" y="4870728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Métrica principal de evaluación del modelo de IA implementado</a:t>
            </a:r>
            <a:endParaRPr lang="en-US" sz="1750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74EB995E-FAE5-7957-08EE-08F5830D3483}"/>
              </a:ext>
            </a:extLst>
          </p:cNvPr>
          <p:cNvSpPr/>
          <p:nvPr/>
        </p:nvSpPr>
        <p:spPr>
          <a:xfrm>
            <a:off x="5235893" y="3348514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XX%</a:t>
            </a:r>
            <a:endParaRPr lang="en-US" sz="5850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028539E6-0EE3-E5C1-2F75-01D6150CD49E}"/>
              </a:ext>
            </a:extLst>
          </p:cNvPr>
          <p:cNvSpPr/>
          <p:nvPr/>
        </p:nvSpPr>
        <p:spPr>
          <a:xfrm>
            <a:off x="5897523" y="43803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Reducción de Tiempo</a:t>
            </a:r>
            <a:endParaRPr lang="en-US" sz="2200"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73284342-87C2-F10A-6B76-DB87F13292B2}"/>
              </a:ext>
            </a:extLst>
          </p:cNvPr>
          <p:cNvSpPr/>
          <p:nvPr/>
        </p:nvSpPr>
        <p:spPr>
          <a:xfrm>
            <a:off x="5235893" y="4870728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Mejora en eficiencia del proceso respecto al estado anterior</a:t>
            </a:r>
            <a:endParaRPr lang="en-US" sz="1750"/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46AA88FA-ACE0-4909-53A9-EA6016B9D2C8}"/>
              </a:ext>
            </a:extLst>
          </p:cNvPr>
          <p:cNvSpPr/>
          <p:nvPr/>
        </p:nvSpPr>
        <p:spPr>
          <a:xfrm>
            <a:off x="9677995" y="3348514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XX</a:t>
            </a:r>
            <a:endParaRPr lang="en-US" sz="5850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A2FDC722-A045-CF88-F37C-08A5A3CA4898}"/>
              </a:ext>
            </a:extLst>
          </p:cNvPr>
          <p:cNvSpPr/>
          <p:nvPr/>
        </p:nvSpPr>
        <p:spPr>
          <a:xfrm>
            <a:off x="10339626" y="43803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Casos Probados</a:t>
            </a:r>
            <a:endParaRPr lang="en-US" sz="2200"/>
          </a:p>
        </p:txBody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2AB5CCC6-0A32-6E69-2E4B-DB6877BE0392}"/>
              </a:ext>
            </a:extLst>
          </p:cNvPr>
          <p:cNvSpPr/>
          <p:nvPr/>
        </p:nvSpPr>
        <p:spPr>
          <a:xfrm>
            <a:off x="9677995" y="4870728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Número de casos de prueba utilizados en la validación funcional</a:t>
            </a:r>
            <a:endParaRPr lang="en-US" sz="1750"/>
          </a:p>
        </p:txBody>
      </p:sp>
      <p:sp>
        <p:nvSpPr>
          <p:cNvPr id="32" name="Shape 13">
            <a:extLst>
              <a:ext uri="{FF2B5EF4-FFF2-40B4-BE49-F238E27FC236}">
                <a16:creationId xmlns:a16="http://schemas.microsoft.com/office/drawing/2014/main" id="{AD6D225D-CF4E-67A3-83F2-9A6A194CD5F1}"/>
              </a:ext>
            </a:extLst>
          </p:cNvPr>
          <p:cNvSpPr/>
          <p:nvPr/>
        </p:nvSpPr>
        <p:spPr>
          <a:xfrm>
            <a:off x="793790" y="5851684"/>
            <a:ext cx="13042821" cy="1326713"/>
          </a:xfrm>
          <a:prstGeom prst="roundRect">
            <a:avLst>
              <a:gd name="adj" fmla="val 2565"/>
            </a:avLst>
          </a:prstGeom>
          <a:solidFill>
            <a:srgbClr val="CC0000"/>
          </a:solidFill>
          <a:ln/>
        </p:spPr>
        <p:txBody>
          <a:bodyPr/>
          <a:lstStyle/>
          <a:p>
            <a:endParaRPr lang="es-EC"/>
          </a:p>
        </p:txBody>
      </p:sp>
      <p:pic>
        <p:nvPicPr>
          <p:cNvPr id="34" name="Image 0" descr="preencoded.png">
            <a:extLst>
              <a:ext uri="{FF2B5EF4-FFF2-40B4-BE49-F238E27FC236}">
                <a16:creationId xmlns:a16="http://schemas.microsoft.com/office/drawing/2014/main" id="{BF8FB0C7-24F8-D5C0-4892-B262BF73EC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604" y="6195774"/>
            <a:ext cx="283488" cy="226814"/>
          </a:xfrm>
          <a:prstGeom prst="rect">
            <a:avLst/>
          </a:prstGeom>
        </p:spPr>
      </p:pic>
      <p:sp>
        <p:nvSpPr>
          <p:cNvPr id="36" name="Text 14">
            <a:extLst>
              <a:ext uri="{FF2B5EF4-FFF2-40B4-BE49-F238E27FC236}">
                <a16:creationId xmlns:a16="http://schemas.microsoft.com/office/drawing/2014/main" id="{0157993E-FA81-8A2E-79C5-82638E75A557}"/>
              </a:ext>
            </a:extLst>
          </p:cNvPr>
          <p:cNvSpPr/>
          <p:nvPr/>
        </p:nvSpPr>
        <p:spPr>
          <a:xfrm>
            <a:off x="1530906" y="6135172"/>
            <a:ext cx="120788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Conclusión:</a:t>
            </a:r>
            <a:r>
              <a:rPr lang="en-US" sz="175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[Descripción de si el prototipo cumplió con los objetivos planteados y qué aprendizajes se obtuvieron del proceso de validación.]</a:t>
            </a:r>
            <a:endParaRPr lang="en-US" sz="1750"/>
          </a:p>
        </p:txBody>
      </p:sp>
    </p:spTree>
    <p:extLst>
      <p:ext uri="{BB962C8B-B14F-4D97-AF65-F5344CB8AC3E}">
        <p14:creationId xmlns:p14="http://schemas.microsoft.com/office/powerpoint/2010/main" val="21134381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575AE-53FF-88EF-B938-CCC4B5078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0">
            <a:extLst>
              <a:ext uri="{FF2B5EF4-FFF2-40B4-BE49-F238E27FC236}">
                <a16:creationId xmlns:a16="http://schemas.microsoft.com/office/drawing/2014/main" id="{57DEBFFB-4633-3DB3-3EF1-6A614F4140C5}"/>
              </a:ext>
            </a:extLst>
          </p:cNvPr>
          <p:cNvSpPr/>
          <p:nvPr/>
        </p:nvSpPr>
        <p:spPr>
          <a:xfrm>
            <a:off x="724733" y="742236"/>
            <a:ext cx="1451372" cy="377428"/>
          </a:xfrm>
          <a:prstGeom prst="roundRect">
            <a:avLst>
              <a:gd name="adj" fmla="val 6584"/>
            </a:avLst>
          </a:prstGeom>
          <a:solidFill>
            <a:srgbClr val="CC000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0A1C2AA5-9C27-4C51-8B3A-7E58BE774606}"/>
              </a:ext>
            </a:extLst>
          </p:cNvPr>
          <p:cNvSpPr/>
          <p:nvPr/>
        </p:nvSpPr>
        <p:spPr>
          <a:xfrm>
            <a:off x="848916" y="804267"/>
            <a:ext cx="1203008" cy="253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DEMOSTRACIÓN</a:t>
            </a:r>
            <a:endParaRPr lang="en-US" sz="1300" dirty="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212EFC58-E6E5-D10E-B65E-5DCBA00A415C}"/>
              </a:ext>
            </a:extLst>
          </p:cNvPr>
          <p:cNvSpPr/>
          <p:nvPr/>
        </p:nvSpPr>
        <p:spPr>
          <a:xfrm>
            <a:off x="724733" y="1195268"/>
            <a:ext cx="8478798" cy="647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dirty="0" err="1">
                <a:solidFill>
                  <a:srgbClr val="F3F3F2"/>
                </a:solidFill>
                <a:latin typeface="IBM Plex Sans Medium" pitchFamily="34" charset="0"/>
              </a:rPr>
              <a:t>Demostración</a:t>
            </a:r>
            <a:r>
              <a:rPr lang="en-US" sz="4050" dirty="0">
                <a:solidFill>
                  <a:srgbClr val="F3F3F2"/>
                </a:solidFill>
                <a:latin typeface="IBM Plex Sans Medium" pitchFamily="34" charset="0"/>
              </a:rPr>
              <a:t> del </a:t>
            </a:r>
            <a:r>
              <a:rPr lang="en-US" sz="4050" dirty="0" err="1">
                <a:solidFill>
                  <a:srgbClr val="F3F3F2"/>
                </a:solidFill>
                <a:latin typeface="IBM Plex Sans Medium" pitchFamily="34" charset="0"/>
              </a:rPr>
              <a:t>sistema</a:t>
            </a:r>
            <a:endParaRPr lang="en-US" sz="4050" dirty="0"/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6D391AA6-BBB5-D904-10BE-7A3F494CAABB}"/>
              </a:ext>
            </a:extLst>
          </p:cNvPr>
          <p:cNvSpPr/>
          <p:nvPr/>
        </p:nvSpPr>
        <p:spPr>
          <a:xfrm>
            <a:off x="848916" y="2171580"/>
            <a:ext cx="5415319" cy="5148739"/>
          </a:xfrm>
          <a:prstGeom prst="ellipse">
            <a:avLst/>
          </a:prstGeom>
          <a:solidFill>
            <a:srgbClr val="FF9797"/>
          </a:solidFill>
          <a:ln/>
        </p:spPr>
        <p:txBody>
          <a:bodyPr/>
          <a:lstStyle/>
          <a:p>
            <a:endParaRPr lang="es-EC" dirty="0"/>
          </a:p>
          <a:p>
            <a:endParaRPr lang="es-EC" dirty="0"/>
          </a:p>
          <a:p>
            <a:endParaRPr lang="es-EC" dirty="0"/>
          </a:p>
          <a:p>
            <a:endParaRPr lang="es-EC" dirty="0"/>
          </a:p>
          <a:p>
            <a:endParaRPr lang="es-EC" dirty="0"/>
          </a:p>
          <a:p>
            <a:endParaRPr lang="es-EC" dirty="0"/>
          </a:p>
          <a:p>
            <a:r>
              <a:rPr lang="es-EC" dirty="0"/>
              <a:t>INSERTE UN VIDEO DE 3 MINUTOS</a:t>
            </a:r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D28C0097-B9DB-B193-9A83-ED5ACB8A157D}"/>
              </a:ext>
            </a:extLst>
          </p:cNvPr>
          <p:cNvSpPr/>
          <p:nvPr/>
        </p:nvSpPr>
        <p:spPr>
          <a:xfrm>
            <a:off x="7575352" y="2023169"/>
            <a:ext cx="3163253" cy="323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s-EC" sz="20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El prototipo fue implementado exitosamente en un 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s-EC" sz="20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entorno simulado de producción. A través de:</a:t>
            </a:r>
          </a:p>
        </p:txBody>
      </p:sp>
      <p:sp>
        <p:nvSpPr>
          <p:cNvPr id="22" name="Shape 8">
            <a:extLst>
              <a:ext uri="{FF2B5EF4-FFF2-40B4-BE49-F238E27FC236}">
                <a16:creationId xmlns:a16="http://schemas.microsoft.com/office/drawing/2014/main" id="{1838B33B-8465-AB6E-857A-2319B7DC5E43}"/>
              </a:ext>
            </a:extLst>
          </p:cNvPr>
          <p:cNvSpPr/>
          <p:nvPr/>
        </p:nvSpPr>
        <p:spPr>
          <a:xfrm>
            <a:off x="7575352" y="2850952"/>
            <a:ext cx="6337935" cy="4423648"/>
          </a:xfrm>
          <a:prstGeom prst="roundRect">
            <a:avLst>
              <a:gd name="adj" fmla="val 702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2842169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0">
            <a:extLst>
              <a:ext uri="{FF2B5EF4-FFF2-40B4-BE49-F238E27FC236}">
                <a16:creationId xmlns:a16="http://schemas.microsoft.com/office/drawing/2014/main" id="{A9590878-4616-FB0B-3CE2-7DCD0E2C1DED}"/>
              </a:ext>
            </a:extLst>
          </p:cNvPr>
          <p:cNvSpPr/>
          <p:nvPr/>
        </p:nvSpPr>
        <p:spPr>
          <a:xfrm>
            <a:off x="712351" y="776288"/>
            <a:ext cx="733306" cy="340519"/>
          </a:xfrm>
          <a:prstGeom prst="roundRect">
            <a:avLst>
              <a:gd name="adj" fmla="val 6745"/>
            </a:avLst>
          </a:prstGeom>
          <a:solidFill>
            <a:srgbClr val="CC000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6656B791-CDC5-1884-39E3-F1520F99F403}"/>
              </a:ext>
            </a:extLst>
          </p:cNvPr>
          <p:cNvSpPr/>
          <p:nvPr/>
        </p:nvSpPr>
        <p:spPr>
          <a:xfrm>
            <a:off x="827127" y="833676"/>
            <a:ext cx="503753" cy="225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0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CIERRE</a:t>
            </a:r>
            <a:endParaRPr lang="en-US" sz="120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AB7A8DD1-5172-C47B-B125-E8585D78D34C}"/>
              </a:ext>
            </a:extLst>
          </p:cNvPr>
          <p:cNvSpPr/>
          <p:nvPr/>
        </p:nvSpPr>
        <p:spPr>
          <a:xfrm>
            <a:off x="712351" y="1181338"/>
            <a:ext cx="6846808" cy="598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Conclusiones y Próximos Pasos</a:t>
            </a:r>
            <a:endParaRPr lang="en-US" sz="375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E4E407CF-FA78-B27B-F0DD-9531CA480A69}"/>
              </a:ext>
            </a:extLst>
          </p:cNvPr>
          <p:cNvSpPr/>
          <p:nvPr/>
        </p:nvSpPr>
        <p:spPr>
          <a:xfrm>
            <a:off x="712351" y="2183011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Conclusiones Clave</a:t>
            </a:r>
            <a:endParaRPr lang="en-US" sz="1850"/>
          </a:p>
        </p:txBody>
      </p:sp>
      <p:pic>
        <p:nvPicPr>
          <p:cNvPr id="14" name="Image 0" descr="preencoded.png">
            <a:extLst>
              <a:ext uri="{FF2B5EF4-FFF2-40B4-BE49-F238E27FC236}">
                <a16:creationId xmlns:a16="http://schemas.microsoft.com/office/drawing/2014/main" id="{FDA85C29-A1AB-C4A5-38D4-B90C84B105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4027" y="2672953"/>
            <a:ext cx="287060" cy="287060"/>
          </a:xfrm>
          <a:prstGeom prst="rect">
            <a:avLst/>
          </a:prstGeom>
        </p:spPr>
      </p:pic>
      <p:sp>
        <p:nvSpPr>
          <p:cNvPr id="16" name="Text 4">
            <a:extLst>
              <a:ext uri="{FF2B5EF4-FFF2-40B4-BE49-F238E27FC236}">
                <a16:creationId xmlns:a16="http://schemas.microsoft.com/office/drawing/2014/main" id="{0DE7F312-6F50-46D2-A192-AB8D6643127E}"/>
              </a:ext>
            </a:extLst>
          </p:cNvPr>
          <p:cNvSpPr/>
          <p:nvPr/>
        </p:nvSpPr>
        <p:spPr>
          <a:xfrm>
            <a:off x="1334214" y="2663547"/>
            <a:ext cx="5747385" cy="564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prototipo demostró viabilidad técnica y relevancia para el problema identificado.</a:t>
            </a:r>
            <a:endParaRPr lang="en-US" sz="1500"/>
          </a:p>
        </p:txBody>
      </p:sp>
      <p:pic>
        <p:nvPicPr>
          <p:cNvPr id="18" name="Image 1" descr="preencoded.png">
            <a:extLst>
              <a:ext uri="{FF2B5EF4-FFF2-40B4-BE49-F238E27FC236}">
                <a16:creationId xmlns:a16="http://schemas.microsoft.com/office/drawing/2014/main" id="{DFDECEDE-4778-274B-AD72-6EEDF2CC29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4027" y="3579376"/>
            <a:ext cx="287060" cy="287060"/>
          </a:xfrm>
          <a:prstGeom prst="rect">
            <a:avLst/>
          </a:prstGeom>
        </p:spPr>
      </p:pic>
      <p:sp>
        <p:nvSpPr>
          <p:cNvPr id="20" name="Text 5">
            <a:extLst>
              <a:ext uri="{FF2B5EF4-FFF2-40B4-BE49-F238E27FC236}">
                <a16:creationId xmlns:a16="http://schemas.microsoft.com/office/drawing/2014/main" id="{216C1F3C-15F7-5A57-5BC5-3456586F3F2C}"/>
              </a:ext>
            </a:extLst>
          </p:cNvPr>
          <p:cNvSpPr/>
          <p:nvPr/>
        </p:nvSpPr>
        <p:spPr>
          <a:xfrm>
            <a:off x="1334214" y="3569970"/>
            <a:ext cx="5747385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 cumplieron los objetivos SMART dentro del alcance definido.</a:t>
            </a:r>
            <a:endParaRPr lang="en-US" sz="1500"/>
          </a:p>
        </p:txBody>
      </p:sp>
      <p:pic>
        <p:nvPicPr>
          <p:cNvPr id="22" name="Image 2" descr="preencoded.png">
            <a:extLst>
              <a:ext uri="{FF2B5EF4-FFF2-40B4-BE49-F238E27FC236}">
                <a16:creationId xmlns:a16="http://schemas.microsoft.com/office/drawing/2014/main" id="{197865F4-8F92-2C15-CDB1-4B307A2429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4027" y="4485799"/>
            <a:ext cx="287060" cy="287060"/>
          </a:xfrm>
          <a:prstGeom prst="rect">
            <a:avLst/>
          </a:prstGeom>
        </p:spPr>
      </p:pic>
      <p:sp>
        <p:nvSpPr>
          <p:cNvPr id="24" name="Text 6">
            <a:extLst>
              <a:ext uri="{FF2B5EF4-FFF2-40B4-BE49-F238E27FC236}">
                <a16:creationId xmlns:a16="http://schemas.microsoft.com/office/drawing/2014/main" id="{9C27D9FA-E5D2-910C-EE78-29D12140D184}"/>
              </a:ext>
            </a:extLst>
          </p:cNvPr>
          <p:cNvSpPr/>
          <p:nvPr/>
        </p:nvSpPr>
        <p:spPr>
          <a:xfrm>
            <a:off x="1334214" y="4476393"/>
            <a:ext cx="5747385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solución genera valor real y medible para la organización.</a:t>
            </a:r>
            <a:endParaRPr lang="en-US" sz="1500"/>
          </a:p>
        </p:txBody>
      </p:sp>
      <p:sp>
        <p:nvSpPr>
          <p:cNvPr id="26" name="Text 7">
            <a:extLst>
              <a:ext uri="{FF2B5EF4-FFF2-40B4-BE49-F238E27FC236}">
                <a16:creationId xmlns:a16="http://schemas.microsoft.com/office/drawing/2014/main" id="{9B3037B7-C669-7B4A-13E6-66A345428BD4}"/>
              </a:ext>
            </a:extLst>
          </p:cNvPr>
          <p:cNvSpPr/>
          <p:nvPr/>
        </p:nvSpPr>
        <p:spPr>
          <a:xfrm>
            <a:off x="7556183" y="2183011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Próximos Pasos</a:t>
            </a:r>
            <a:endParaRPr lang="en-US" sz="1850"/>
          </a:p>
        </p:txBody>
      </p:sp>
      <p:sp>
        <p:nvSpPr>
          <p:cNvPr id="28" name="Shape 8">
            <a:extLst>
              <a:ext uri="{FF2B5EF4-FFF2-40B4-BE49-F238E27FC236}">
                <a16:creationId xmlns:a16="http://schemas.microsoft.com/office/drawing/2014/main" id="{D9F7652B-A785-57E8-966F-3A1BF209C683}"/>
              </a:ext>
            </a:extLst>
          </p:cNvPr>
          <p:cNvSpPr/>
          <p:nvPr/>
        </p:nvSpPr>
        <p:spPr>
          <a:xfrm>
            <a:off x="7556183" y="2663547"/>
            <a:ext cx="6369248" cy="1170980"/>
          </a:xfrm>
          <a:prstGeom prst="roundRect">
            <a:avLst>
              <a:gd name="adj" fmla="val 9371"/>
            </a:avLst>
          </a:prstGeom>
          <a:solidFill>
            <a:srgbClr val="292C32"/>
          </a:solidFill>
          <a:ln w="22860">
            <a:solidFill>
              <a:srgbClr val="61646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0" name="Shape 9">
            <a:extLst>
              <a:ext uri="{FF2B5EF4-FFF2-40B4-BE49-F238E27FC236}">
                <a16:creationId xmlns:a16="http://schemas.microsoft.com/office/drawing/2014/main" id="{1C7F8761-144B-DCCD-A2E0-DA2A29CEF5F3}"/>
              </a:ext>
            </a:extLst>
          </p:cNvPr>
          <p:cNvSpPr/>
          <p:nvPr/>
        </p:nvSpPr>
        <p:spPr>
          <a:xfrm>
            <a:off x="7533323" y="2663547"/>
            <a:ext cx="91440" cy="1170980"/>
          </a:xfrm>
          <a:prstGeom prst="roundRect">
            <a:avLst>
              <a:gd name="adj" fmla="val 31395"/>
            </a:avLst>
          </a:prstGeom>
          <a:solidFill>
            <a:srgbClr val="FF9797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A7819AE7-B6F1-B5C7-CA56-ABF49D4D335E}"/>
              </a:ext>
            </a:extLst>
          </p:cNvPr>
          <p:cNvSpPr/>
          <p:nvPr/>
        </p:nvSpPr>
        <p:spPr>
          <a:xfrm>
            <a:off x="7838956" y="2877741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Escalamiento</a:t>
            </a:r>
            <a:endParaRPr lang="en-US" sz="1850"/>
          </a:p>
        </p:txBody>
      </p:sp>
      <p:sp>
        <p:nvSpPr>
          <p:cNvPr id="34" name="Text 11">
            <a:extLst>
              <a:ext uri="{FF2B5EF4-FFF2-40B4-BE49-F238E27FC236}">
                <a16:creationId xmlns:a16="http://schemas.microsoft.com/office/drawing/2014/main" id="{3D564FC7-1DD3-47C0-42A9-540DA8EC355A}"/>
              </a:ext>
            </a:extLst>
          </p:cNvPr>
          <p:cNvSpPr/>
          <p:nvPr/>
        </p:nvSpPr>
        <p:spPr>
          <a:xfrm>
            <a:off x="7838956" y="3338155"/>
            <a:ext cx="5872282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Integración con sistemas reales de la organización</a:t>
            </a:r>
            <a:endParaRPr lang="en-US" sz="1500"/>
          </a:p>
        </p:txBody>
      </p:sp>
      <p:sp>
        <p:nvSpPr>
          <p:cNvPr id="36" name="Shape 12">
            <a:extLst>
              <a:ext uri="{FF2B5EF4-FFF2-40B4-BE49-F238E27FC236}">
                <a16:creationId xmlns:a16="http://schemas.microsoft.com/office/drawing/2014/main" id="{3D9F3644-0250-7EBD-EE58-BE9A924C8509}"/>
              </a:ext>
            </a:extLst>
          </p:cNvPr>
          <p:cNvSpPr/>
          <p:nvPr/>
        </p:nvSpPr>
        <p:spPr>
          <a:xfrm>
            <a:off x="7556183" y="3995976"/>
            <a:ext cx="6369248" cy="1170980"/>
          </a:xfrm>
          <a:prstGeom prst="roundRect">
            <a:avLst>
              <a:gd name="adj" fmla="val 9371"/>
            </a:avLst>
          </a:prstGeom>
          <a:solidFill>
            <a:srgbClr val="292C32"/>
          </a:solidFill>
          <a:ln w="22860">
            <a:solidFill>
              <a:srgbClr val="61646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8" name="Shape 13">
            <a:extLst>
              <a:ext uri="{FF2B5EF4-FFF2-40B4-BE49-F238E27FC236}">
                <a16:creationId xmlns:a16="http://schemas.microsoft.com/office/drawing/2014/main" id="{F785A636-17A6-7313-F175-EF31682110B4}"/>
              </a:ext>
            </a:extLst>
          </p:cNvPr>
          <p:cNvSpPr/>
          <p:nvPr/>
        </p:nvSpPr>
        <p:spPr>
          <a:xfrm>
            <a:off x="7533323" y="3995976"/>
            <a:ext cx="91440" cy="1170980"/>
          </a:xfrm>
          <a:prstGeom prst="roundRect">
            <a:avLst>
              <a:gd name="adj" fmla="val 31395"/>
            </a:avLst>
          </a:prstGeom>
          <a:solidFill>
            <a:srgbClr val="FF9797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0" name="Text 14">
            <a:extLst>
              <a:ext uri="{FF2B5EF4-FFF2-40B4-BE49-F238E27FC236}">
                <a16:creationId xmlns:a16="http://schemas.microsoft.com/office/drawing/2014/main" id="{61592BB7-F6C7-B307-E270-A0699DF85EBF}"/>
              </a:ext>
            </a:extLst>
          </p:cNvPr>
          <p:cNvSpPr/>
          <p:nvPr/>
        </p:nvSpPr>
        <p:spPr>
          <a:xfrm>
            <a:off x="7838956" y="4210169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Mejora Continua</a:t>
            </a:r>
            <a:endParaRPr lang="en-US" sz="1850"/>
          </a:p>
        </p:txBody>
      </p:sp>
      <p:sp>
        <p:nvSpPr>
          <p:cNvPr id="42" name="Text 15">
            <a:extLst>
              <a:ext uri="{FF2B5EF4-FFF2-40B4-BE49-F238E27FC236}">
                <a16:creationId xmlns:a16="http://schemas.microsoft.com/office/drawing/2014/main" id="{5B4174BF-06BC-0196-BDAF-65D2D4F45FFD}"/>
              </a:ext>
            </a:extLst>
          </p:cNvPr>
          <p:cNvSpPr/>
          <p:nvPr/>
        </p:nvSpPr>
        <p:spPr>
          <a:xfrm>
            <a:off x="7838956" y="4670584"/>
            <a:ext cx="5872282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Reentrenamiento del modelo con nuevos datos</a:t>
            </a:r>
            <a:endParaRPr lang="en-US" sz="1500"/>
          </a:p>
        </p:txBody>
      </p:sp>
      <p:sp>
        <p:nvSpPr>
          <p:cNvPr id="44" name="Shape 16">
            <a:extLst>
              <a:ext uri="{FF2B5EF4-FFF2-40B4-BE49-F238E27FC236}">
                <a16:creationId xmlns:a16="http://schemas.microsoft.com/office/drawing/2014/main" id="{F43A846F-6098-3338-8E95-5A1D8A907C25}"/>
              </a:ext>
            </a:extLst>
          </p:cNvPr>
          <p:cNvSpPr/>
          <p:nvPr/>
        </p:nvSpPr>
        <p:spPr>
          <a:xfrm>
            <a:off x="7556183" y="5328404"/>
            <a:ext cx="6369248" cy="1170980"/>
          </a:xfrm>
          <a:prstGeom prst="roundRect">
            <a:avLst>
              <a:gd name="adj" fmla="val 9371"/>
            </a:avLst>
          </a:prstGeom>
          <a:solidFill>
            <a:srgbClr val="292C32"/>
          </a:solidFill>
          <a:ln w="22860">
            <a:solidFill>
              <a:srgbClr val="61646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6" name="Shape 17">
            <a:extLst>
              <a:ext uri="{FF2B5EF4-FFF2-40B4-BE49-F238E27FC236}">
                <a16:creationId xmlns:a16="http://schemas.microsoft.com/office/drawing/2014/main" id="{EA8C8AEF-EB62-B051-425B-CEF57DD8E66C}"/>
              </a:ext>
            </a:extLst>
          </p:cNvPr>
          <p:cNvSpPr/>
          <p:nvPr/>
        </p:nvSpPr>
        <p:spPr>
          <a:xfrm>
            <a:off x="7533323" y="5328404"/>
            <a:ext cx="91440" cy="1170980"/>
          </a:xfrm>
          <a:prstGeom prst="roundRect">
            <a:avLst>
              <a:gd name="adj" fmla="val 31395"/>
            </a:avLst>
          </a:prstGeom>
          <a:solidFill>
            <a:srgbClr val="FF9797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8" name="Text 18">
            <a:extLst>
              <a:ext uri="{FF2B5EF4-FFF2-40B4-BE49-F238E27FC236}">
                <a16:creationId xmlns:a16="http://schemas.microsoft.com/office/drawing/2014/main" id="{3E77E478-7665-7B68-4C0F-843B2F28E24B}"/>
              </a:ext>
            </a:extLst>
          </p:cNvPr>
          <p:cNvSpPr/>
          <p:nvPr/>
        </p:nvSpPr>
        <p:spPr>
          <a:xfrm>
            <a:off x="7838956" y="5542598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Publicación</a:t>
            </a:r>
            <a:endParaRPr lang="en-US" sz="1850"/>
          </a:p>
        </p:txBody>
      </p:sp>
      <p:sp>
        <p:nvSpPr>
          <p:cNvPr id="50" name="Text 19">
            <a:extLst>
              <a:ext uri="{FF2B5EF4-FFF2-40B4-BE49-F238E27FC236}">
                <a16:creationId xmlns:a16="http://schemas.microsoft.com/office/drawing/2014/main" id="{F1BF6B72-E91B-607C-E9C7-166E922ED42E}"/>
              </a:ext>
            </a:extLst>
          </p:cNvPr>
          <p:cNvSpPr/>
          <p:nvPr/>
        </p:nvSpPr>
        <p:spPr>
          <a:xfrm>
            <a:off x="7838956" y="6003012"/>
            <a:ext cx="5872282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Documentación y difusión académica de resultados</a:t>
            </a:r>
            <a:endParaRPr lang="en-US" sz="1500"/>
          </a:p>
        </p:txBody>
      </p:sp>
      <p:sp>
        <p:nvSpPr>
          <p:cNvPr id="52" name="Shape 20">
            <a:extLst>
              <a:ext uri="{FF2B5EF4-FFF2-40B4-BE49-F238E27FC236}">
                <a16:creationId xmlns:a16="http://schemas.microsoft.com/office/drawing/2014/main" id="{326BFFC8-D32A-69B7-BFBF-61A3CF010BF4}"/>
              </a:ext>
            </a:extLst>
          </p:cNvPr>
          <p:cNvSpPr/>
          <p:nvPr/>
        </p:nvSpPr>
        <p:spPr>
          <a:xfrm>
            <a:off x="712351" y="6958115"/>
            <a:ext cx="13205579" cy="31433"/>
          </a:xfrm>
          <a:prstGeom prst="rect">
            <a:avLst/>
          </a:prstGeom>
          <a:solidFill>
            <a:srgbClr val="D4D4D1">
              <a:alpha val="50000"/>
            </a:srgbClr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4" name="Text 21">
            <a:extLst>
              <a:ext uri="{FF2B5EF4-FFF2-40B4-BE49-F238E27FC236}">
                <a16:creationId xmlns:a16="http://schemas.microsoft.com/office/drawing/2014/main" id="{D6B6B08E-816A-81A4-45B4-5B66E9A68C1A}"/>
              </a:ext>
            </a:extLst>
          </p:cNvPr>
          <p:cNvSpPr/>
          <p:nvPr/>
        </p:nvSpPr>
        <p:spPr>
          <a:xfrm>
            <a:off x="712351" y="7171015"/>
            <a:ext cx="13205579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Universidad de Las Américas · Maestría en Inteligencia Artificial Aplicada · [Año]</a:t>
            </a: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1144323529"/>
      </p:ext>
    </p:extLst>
  </p:cSld>
  <p:clrMapOvr>
    <a:masterClrMapping/>
  </p:clrMapOvr>
</p:sld>
</file>

<file path=ppt/theme/theme1.xml><?xml version="1.0" encoding="utf-8"?>
<a:theme xmlns:a="http://schemas.openxmlformats.org/drawingml/2006/main" name="PortalVTI">
  <a:themeElements>
    <a:clrScheme name="PortalVTI">
      <a:dk1>
        <a:sysClr val="windowText" lastClr="000000"/>
      </a:dk1>
      <a:lt1>
        <a:sysClr val="window" lastClr="FFFFFF"/>
      </a:lt1>
      <a:dk2>
        <a:srgbClr val="051618"/>
      </a:dk2>
      <a:lt2>
        <a:srgbClr val="E8E8DF"/>
      </a:lt2>
      <a:accent1>
        <a:srgbClr val="2D714C"/>
      </a:accent1>
      <a:accent2>
        <a:srgbClr val="1F7985"/>
      </a:accent2>
      <a:accent3>
        <a:srgbClr val="0D6756"/>
      </a:accent3>
      <a:accent4>
        <a:srgbClr val="40945E"/>
      </a:accent4>
      <a:accent5>
        <a:srgbClr val="389896"/>
      </a:accent5>
      <a:accent6>
        <a:srgbClr val="64924A"/>
      </a:accent6>
      <a:hlink>
        <a:srgbClr val="1F855C"/>
      </a:hlink>
      <a:folHlink>
        <a:srgbClr val="227390"/>
      </a:folHlink>
    </a:clrScheme>
    <a:fontScheme name="PortalVTI">
      <a:majorFont>
        <a:latin typeface="Trade Gothic Next Cond"/>
        <a:ea typeface=""/>
        <a:cs typeface=""/>
      </a:majorFont>
      <a:minorFont>
        <a:latin typeface="Trade Gothic Next Light"/>
        <a:ea typeface=""/>
        <a:cs typeface=""/>
      </a:minorFont>
    </a:fontScheme>
    <a:fmtScheme name="Portal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rtalVTI" id="{E3A4BB4D-5227-4A6D-99D3-DBAB0FE4C68F}" vid="{BE515EFD-5A7A-4BFE-BE06-A21DB8499CD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7B1E9770924C340B74DC40B2B67E067" ma:contentTypeVersion="3" ma:contentTypeDescription="Crear nuevo documento." ma:contentTypeScope="" ma:versionID="30c97c007e70ac547cf5514bdf55bf94">
  <xsd:schema xmlns:xsd="http://www.w3.org/2001/XMLSchema" xmlns:xs="http://www.w3.org/2001/XMLSchema" xmlns:p="http://schemas.microsoft.com/office/2006/metadata/properties" xmlns:ns2="3005a672-f34a-428a-bcf8-af771c23dd54" targetNamespace="http://schemas.microsoft.com/office/2006/metadata/properties" ma:root="true" ma:fieldsID="d1d21aaa66685d7bc6766b2dff779693" ns2:_="">
    <xsd:import namespace="3005a672-f34a-428a-bcf8-af771c23dd5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05a672-f34a-428a-bcf8-af771c23dd5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2C9EA5C-19B5-499D-8AAB-639771B00351}"/>
</file>

<file path=customXml/itemProps2.xml><?xml version="1.0" encoding="utf-8"?>
<ds:datastoreItem xmlns:ds="http://schemas.openxmlformats.org/officeDocument/2006/customXml" ds:itemID="{B03D82C2-3BC4-47F5-8BF6-12C5BE72238A}"/>
</file>

<file path=customXml/itemProps3.xml><?xml version="1.0" encoding="utf-8"?>
<ds:datastoreItem xmlns:ds="http://schemas.openxmlformats.org/officeDocument/2006/customXml" ds:itemID="{D96B24D6-4FCC-4663-94BF-F5FFD85942F6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679</Words>
  <Application>Microsoft Office PowerPoint</Application>
  <PresentationFormat>Personalizado</PresentationFormat>
  <Paragraphs>126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8" baseType="lpstr">
      <vt:lpstr>Trade Gothic Next Cond</vt:lpstr>
      <vt:lpstr>Calibri</vt:lpstr>
      <vt:lpstr>Roboto</vt:lpstr>
      <vt:lpstr>Arial</vt:lpstr>
      <vt:lpstr>IBM Plex Sans Medium</vt:lpstr>
      <vt:lpstr>Trade Gothic Next Light</vt:lpstr>
      <vt:lpstr>PortalVTI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Marco Galarza</dc:creator>
  <cp:lastModifiedBy>Marco Galarza</cp:lastModifiedBy>
  <cp:revision>59</cp:revision>
  <dcterms:created xsi:type="dcterms:W3CDTF">2026-04-08T14:58:25Z</dcterms:created>
  <dcterms:modified xsi:type="dcterms:W3CDTF">2026-04-10T04:20:36Z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0x01010067B1E9770924C340B74DC40B2B67E067</vt:lpwstr>
  </property>
</Properties>
</file>